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FFFFF"/>
          </a:solidFill>
          <a:ln w="25400">
            <a:solidFill>
              <a:srgbClr val="C59B27"/>
            </a:solidFill>
            <a:prstDash val="solid"/>
          </a:ln>
        </p:spPr>
      </p:sp>
      <p:sp>
        <p:nvSpPr>
          <p:cNvPr id="3" name="Shape 1"/>
          <p:cNvSpPr/>
          <p:nvPr/>
        </p:nvSpPr>
        <p:spPr>
          <a:xfrm>
            <a:off x="502920" y="502920"/>
            <a:ext cx="11183112" cy="5852160"/>
          </a:xfrm>
          <a:prstGeom prst="rect">
            <a:avLst/>
          </a:prstGeom>
          <a:solidFill>
            <a:srgbClr val="FAFAFC"/>
          </a:solidFill>
          <a:ln w="12700">
            <a:solidFill>
              <a:srgbClr val="1E4D3B"/>
            </a:solidFill>
            <a:prstDash val="solid"/>
          </a:ln>
        </p:spPr>
      </p:sp>
      <p:sp>
        <p:nvSpPr>
          <p:cNvPr id="4" name="Shape 2"/>
          <p:cNvSpPr/>
          <p:nvPr/>
        </p:nvSpPr>
        <p:spPr>
          <a:xfrm>
            <a:off x="914400" y="822960"/>
            <a:ext cx="10360152" cy="2468880"/>
          </a:xfrm>
          <a:prstGeom prst="roundRect">
            <a:avLst>
              <a:gd name="adj" fmla="val 5556"/>
            </a:avLst>
          </a:prstGeom>
          <a:solidFill>
            <a:srgbClr val="1E4D3B"/>
          </a:solidFill>
          <a:ln w="25400">
            <a:solidFill>
              <a:srgbClr val="C59B27"/>
            </a:solidFill>
            <a:prstDash val="solid"/>
          </a:ln>
        </p:spPr>
      </p:sp>
      <p:sp>
        <p:nvSpPr>
          <p:cNvPr id="5" name="Text 3"/>
          <p:cNvSpPr/>
          <p:nvPr/>
        </p:nvSpPr>
        <p:spPr>
          <a:xfrm>
            <a:off x="1371600" y="1051560"/>
            <a:ext cx="9445752" cy="365760"/>
          </a:xfrm>
          <a:prstGeom prst="rect">
            <a:avLst/>
          </a:prstGeom>
          <a:noFill/>
          <a:ln/>
        </p:spPr>
        <p:txBody>
          <a:bodyPr wrap="square" rtlCol="0" anchor="ctr"/>
          <a:lstStyle/>
          <a:p>
            <a:pPr algn="ctr" indent="0" marL="0">
              <a:buNone/>
            </a:pPr>
            <a:r>
              <a:rPr lang="en-US" sz="1500" b="1" dirty="0">
                <a:solidFill>
                  <a:srgbClr val="C59B27"/>
                </a:solidFill>
                <a:latin typeface="Tajawal" pitchFamily="34" charset="0"/>
                <a:ea typeface="Tajawal" pitchFamily="34" charset="-122"/>
                <a:cs typeface="Tajawal" pitchFamily="34" charset="-120"/>
              </a:rPr>
              <a:t>✨ منصة استهداء لتعليم القرآن الكريم ✨</a:t>
            </a:r>
            <a:endParaRPr lang="en-US" sz="1500" dirty="0"/>
          </a:p>
        </p:txBody>
      </p:sp>
      <p:sp>
        <p:nvSpPr>
          <p:cNvPr id="6" name="Text 4"/>
          <p:cNvSpPr/>
          <p:nvPr/>
        </p:nvSpPr>
        <p:spPr>
          <a:xfrm>
            <a:off x="1097280" y="1463040"/>
            <a:ext cx="9994392" cy="731520"/>
          </a:xfrm>
          <a:prstGeom prst="rect">
            <a:avLst/>
          </a:prstGeom>
          <a:noFill/>
          <a:ln/>
        </p:spPr>
        <p:txBody>
          <a:bodyPr wrap="square" rtlCol="0" anchor="ctr"/>
          <a:lstStyle/>
          <a:p>
            <a:pPr algn="ctr" indent="0" marL="0">
              <a:buNone/>
            </a:pPr>
            <a:r>
              <a:rPr lang="en-US" sz="3000" b="1" dirty="0">
                <a:solidFill>
                  <a:srgbClr val="FFFFFF"/>
                </a:solidFill>
                <a:latin typeface="Cairo" pitchFamily="34" charset="0"/>
                <a:ea typeface="Cairo" pitchFamily="34" charset="-122"/>
                <a:cs typeface="Cairo" pitchFamily="34" charset="-120"/>
              </a:rPr>
              <a:t>مشروع منصة قرآنية تعليمية متكاملة</a:t>
            </a:r>
            <a:endParaRPr lang="en-US" sz="3000" dirty="0"/>
          </a:p>
        </p:txBody>
      </p:sp>
      <p:sp>
        <p:nvSpPr>
          <p:cNvPr id="7" name="Text 5"/>
          <p:cNvSpPr/>
          <p:nvPr/>
        </p:nvSpPr>
        <p:spPr>
          <a:xfrm>
            <a:off x="1097280" y="2240280"/>
            <a:ext cx="9994392" cy="457200"/>
          </a:xfrm>
          <a:prstGeom prst="rect">
            <a:avLst/>
          </a:prstGeom>
          <a:noFill/>
          <a:ln/>
        </p:spPr>
        <p:txBody>
          <a:bodyPr wrap="square" rtlCol="0" anchor="ctr"/>
          <a:lstStyle/>
          <a:p>
            <a:pPr algn="ctr" indent="0" marL="0">
              <a:buNone/>
            </a:pPr>
            <a:r>
              <a:rPr lang="en-US" sz="1700" dirty="0">
                <a:solidFill>
                  <a:srgbClr val="F2E8D5"/>
                </a:solidFill>
                <a:latin typeface="Tajawal" pitchFamily="34" charset="0"/>
                <a:ea typeface="Tajawal" pitchFamily="34" charset="-122"/>
                <a:cs typeface="Tajawal" pitchFamily="34" charset="-120"/>
              </a:rPr>
              <a:t>تجمع بين الإتقان في الحفظ والتلاوة ومجالس الاستهداء بالقرآن الكريم</a:t>
            </a:r>
            <a:endParaRPr lang="en-US" sz="1700" dirty="0"/>
          </a:p>
        </p:txBody>
      </p:sp>
      <p:sp>
        <p:nvSpPr>
          <p:cNvPr id="8" name="Shape 6"/>
          <p:cNvSpPr/>
          <p:nvPr/>
        </p:nvSpPr>
        <p:spPr>
          <a:xfrm>
            <a:off x="2011680" y="3566160"/>
            <a:ext cx="8165592" cy="1371600"/>
          </a:xfrm>
          <a:prstGeom prst="roundRect">
            <a:avLst>
              <a:gd name="adj" fmla="val 8000"/>
            </a:avLst>
          </a:prstGeom>
          <a:solidFill>
            <a:srgbClr val="FFFFFF"/>
          </a:solidFill>
          <a:ln w="19050">
            <a:solidFill>
              <a:srgbClr val="C59B27"/>
            </a:solidFill>
            <a:prstDash val="solid"/>
          </a:ln>
          <a:effectLst>
            <a:outerShdw sx="100000" sy="100000" kx="0" ky="0" algn="bl" rotWithShape="0" blurRad="101600" dist="50800" dir="16200000">
              <a:srgbClr val="000000">
                <a:alpha val="8000"/>
              </a:srgbClr>
            </a:outerShdw>
          </a:effectLst>
        </p:spPr>
      </p:sp>
      <p:sp>
        <p:nvSpPr>
          <p:cNvPr id="9" name="Text 7"/>
          <p:cNvSpPr/>
          <p:nvPr/>
        </p:nvSpPr>
        <p:spPr>
          <a:xfrm>
            <a:off x="2194560" y="3703320"/>
            <a:ext cx="7799832" cy="320040"/>
          </a:xfrm>
          <a:prstGeom prst="rect">
            <a:avLst/>
          </a:prstGeom>
          <a:noFill/>
          <a:ln/>
        </p:spPr>
        <p:txBody>
          <a:bodyPr wrap="square" rtlCol="0" anchor="ctr"/>
          <a:lstStyle/>
          <a:p>
            <a:pPr algn="ctr" indent="0" marL="0">
              <a:buNone/>
            </a:pPr>
            <a:r>
              <a:rPr lang="en-US" sz="1400" b="1" dirty="0">
                <a:solidFill>
                  <a:srgbClr val="C59B27"/>
                </a:solidFill>
                <a:latin typeface="Tajawal" pitchFamily="34" charset="0"/>
                <a:ea typeface="Tajawal" pitchFamily="34" charset="-122"/>
                <a:cs typeface="Tajawal" pitchFamily="34" charset="-120"/>
              </a:rPr>
              <a:t>👤 إعداد الطالب الباحث:</a:t>
            </a:r>
            <a:endParaRPr lang="en-US" sz="1400" dirty="0"/>
          </a:p>
        </p:txBody>
      </p:sp>
      <p:sp>
        <p:nvSpPr>
          <p:cNvPr id="10" name="Text 8"/>
          <p:cNvSpPr/>
          <p:nvPr/>
        </p:nvSpPr>
        <p:spPr>
          <a:xfrm>
            <a:off x="2194560" y="4023360"/>
            <a:ext cx="7799832" cy="457200"/>
          </a:xfrm>
          <a:prstGeom prst="rect">
            <a:avLst/>
          </a:prstGeom>
          <a:noFill/>
          <a:ln/>
        </p:spPr>
        <p:txBody>
          <a:bodyPr wrap="square" rtlCol="0" anchor="ctr"/>
          <a:lstStyle/>
          <a:p>
            <a:pPr algn="ctr" indent="0" marL="0">
              <a:buNone/>
            </a:pPr>
            <a:r>
              <a:rPr lang="en-US" sz="2200" b="1" dirty="0">
                <a:solidFill>
                  <a:srgbClr val="1E4D3B"/>
                </a:solidFill>
                <a:latin typeface="Cairo" pitchFamily="34" charset="0"/>
                <a:ea typeface="Cairo" pitchFamily="34" charset="-122"/>
                <a:cs typeface="Cairo" pitchFamily="34" charset="-120"/>
              </a:rPr>
              <a:t>عبد الرحمن محمد دهبية</a:t>
            </a:r>
            <a:endParaRPr lang="en-US" sz="2200" dirty="0"/>
          </a:p>
        </p:txBody>
      </p:sp>
      <p:sp>
        <p:nvSpPr>
          <p:cNvPr id="11" name="Text 9"/>
          <p:cNvSpPr/>
          <p:nvPr/>
        </p:nvSpPr>
        <p:spPr>
          <a:xfrm>
            <a:off x="2194560" y="4480560"/>
            <a:ext cx="7799832" cy="320040"/>
          </a:xfrm>
          <a:prstGeom prst="rect">
            <a:avLst/>
          </a:prstGeom>
          <a:noFill/>
          <a:ln/>
        </p:spPr>
        <p:txBody>
          <a:bodyPr wrap="square" rtlCol="0" anchor="ctr"/>
          <a:lstStyle/>
          <a:p>
            <a:pPr algn="ctr" indent="0" marL="0">
              <a:buNone/>
            </a:pPr>
            <a:r>
              <a:rPr lang="en-US" sz="1300" dirty="0">
                <a:solidFill>
                  <a:srgbClr val="4A5568"/>
                </a:solidFill>
                <a:latin typeface="Tajawal" pitchFamily="34" charset="0"/>
                <a:ea typeface="Tajawal" pitchFamily="34" charset="-122"/>
                <a:cs typeface="Tajawal" pitchFamily="34" charset="-120"/>
              </a:rPr>
              <a:t>الرقم الأكاديمي: 30484377</a:t>
            </a:r>
            <a:endParaRPr lang="en-US" sz="1300" dirty="0"/>
          </a:p>
        </p:txBody>
      </p:sp>
      <p:sp>
        <p:nvSpPr>
          <p:cNvPr id="12" name="Shape 10"/>
          <p:cNvSpPr/>
          <p:nvPr/>
        </p:nvSpPr>
        <p:spPr>
          <a:xfrm>
            <a:off x="1371600" y="5257800"/>
            <a:ext cx="9445752" cy="640080"/>
          </a:xfrm>
          <a:prstGeom prst="roundRect">
            <a:avLst>
              <a:gd name="adj" fmla="val 14286"/>
            </a:avLst>
          </a:prstGeom>
          <a:solidFill>
            <a:srgbClr val="1E4D3B"/>
          </a:solidFill>
          <a:ln w="12700">
            <a:solidFill>
              <a:srgbClr val="C59B27"/>
            </a:solidFill>
            <a:prstDash val="solid"/>
          </a:ln>
        </p:spPr>
      </p:sp>
      <p:sp>
        <p:nvSpPr>
          <p:cNvPr id="13" name="Text 11"/>
          <p:cNvSpPr/>
          <p:nvPr/>
        </p:nvSpPr>
        <p:spPr>
          <a:xfrm>
            <a:off x="1371600" y="5349240"/>
            <a:ext cx="9445752" cy="457200"/>
          </a:xfrm>
          <a:prstGeom prst="rect">
            <a:avLst/>
          </a:prstGeom>
          <a:noFill/>
          <a:ln/>
        </p:spPr>
        <p:txBody>
          <a:bodyPr wrap="square" rtlCol="0" anchor="ctr"/>
          <a:lstStyle/>
          <a:p>
            <a:pPr algn="ctr" indent="0" marL="0">
              <a:buNone/>
            </a:pPr>
            <a:r>
              <a:rPr lang="en-US" sz="1400" b="1" dirty="0">
                <a:solidFill>
                  <a:srgbClr val="C59B27"/>
                </a:solidFill>
                <a:latin typeface="Tajawal" pitchFamily="34" charset="0"/>
                <a:ea typeface="Tajawal" pitchFamily="34" charset="-122"/>
                <a:cs typeface="Tajawal" pitchFamily="34" charset="-120"/>
              </a:rPr>
              <a:t>🏛️ برنامج البناء المنهجي – دفعة العطاء | إسطنبول، تركيا | 2026م</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4D3B"/>
          </a:solidFill>
          <a:ln/>
        </p:spPr>
      </p:sp>
      <p:sp>
        <p:nvSpPr>
          <p:cNvPr id="3" name="Shape 1"/>
          <p:cNvSpPr/>
          <p:nvPr/>
        </p:nvSpPr>
        <p:spPr>
          <a:xfrm>
            <a:off x="0" y="978408"/>
            <a:ext cx="12188952" cy="45720"/>
          </a:xfrm>
          <a:prstGeom prst="rect">
            <a:avLst/>
          </a:prstGeom>
          <a:solidFill>
            <a:srgbClr val="C59B27"/>
          </a:solidFill>
          <a:ln/>
        </p:spPr>
      </p:sp>
      <p:sp>
        <p:nvSpPr>
          <p:cNvPr id="4" name="Text 2"/>
          <p:cNvSpPr/>
          <p:nvPr/>
        </p:nvSpPr>
        <p:spPr>
          <a:xfrm>
            <a:off x="457200" y="137160"/>
            <a:ext cx="11274552" cy="457200"/>
          </a:xfrm>
          <a:prstGeom prst="rect">
            <a:avLst/>
          </a:prstGeom>
          <a:noFill/>
          <a:ln/>
        </p:spPr>
        <p:txBody>
          <a:bodyPr wrap="square" rtlCol="0" anchor="ctr"/>
          <a:lstStyle/>
          <a:p>
            <a:pPr algn="r" indent="0" marL="0">
              <a:buNone/>
            </a:pPr>
            <a:r>
              <a:rPr lang="en-US" sz="2200" b="1" dirty="0">
                <a:solidFill>
                  <a:srgbClr val="C59B27"/>
                </a:solidFill>
                <a:latin typeface="Cairo" pitchFamily="34" charset="0"/>
                <a:ea typeface="Cairo" pitchFamily="34" charset="-122"/>
                <a:cs typeface="Cairo" pitchFamily="34" charset="-120"/>
              </a:rPr>
              <a:t>ملخص المشروع — الرؤية والأهداف والثمرات</a:t>
            </a:r>
            <a:endParaRPr lang="en-US" sz="2200" dirty="0"/>
          </a:p>
        </p:txBody>
      </p:sp>
      <p:sp>
        <p:nvSpPr>
          <p:cNvPr id="5" name="Text 3"/>
          <p:cNvSpPr/>
          <p:nvPr/>
        </p:nvSpPr>
        <p:spPr>
          <a:xfrm>
            <a:off x="457200" y="566928"/>
            <a:ext cx="11274552" cy="320040"/>
          </a:xfrm>
          <a:prstGeom prst="rect">
            <a:avLst/>
          </a:prstGeom>
          <a:noFill/>
          <a:ln/>
        </p:spPr>
        <p:txBody>
          <a:bodyPr wrap="square" rtlCol="0" anchor="ctr"/>
          <a:lstStyle/>
          <a:p>
            <a:pPr algn="r" indent="0" marL="0">
              <a:buNone/>
            </a:pPr>
            <a:r>
              <a:rPr lang="en-US" sz="1300" dirty="0">
                <a:solidFill>
                  <a:srgbClr val="E2E8F0"/>
                </a:solidFill>
                <a:latin typeface="Tajawal" pitchFamily="34" charset="0"/>
                <a:ea typeface="Tajawal" pitchFamily="34" charset="-122"/>
                <a:cs typeface="Tajawal" pitchFamily="34" charset="-120"/>
              </a:rPr>
              <a:t>دراسة شاملة لربط حفظ القرآن بالتزكية والمعايشة العملية</a:t>
            </a:r>
            <a:endParaRPr lang="en-US" sz="1300" dirty="0"/>
          </a:p>
        </p:txBody>
      </p:sp>
      <p:sp>
        <p:nvSpPr>
          <p:cNvPr id="6" name="Shape 4"/>
          <p:cNvSpPr/>
          <p:nvPr/>
        </p:nvSpPr>
        <p:spPr>
          <a:xfrm>
            <a:off x="548640" y="1188720"/>
            <a:ext cx="3502152" cy="3383280"/>
          </a:xfrm>
          <a:prstGeom prst="roundRect">
            <a:avLst>
              <a:gd name="adj" fmla="val 3243"/>
            </a:avLst>
          </a:prstGeom>
          <a:solidFill>
            <a:srgbClr val="FFFFFF"/>
          </a:solidFill>
          <a:ln w="19050">
            <a:solidFill>
              <a:srgbClr val="9B2C2C"/>
            </a:solidFill>
            <a:prstDash val="solid"/>
          </a:ln>
          <a:effectLst>
            <a:outerShdw sx="100000" sy="100000" kx="0" ky="0" algn="bl" rotWithShape="0" blurRad="76200" dist="38100" dir="16200000">
              <a:srgbClr val="000000">
                <a:alpha val="6000"/>
              </a:srgbClr>
            </a:outerShdw>
          </a:effectLst>
        </p:spPr>
      </p:sp>
      <p:sp>
        <p:nvSpPr>
          <p:cNvPr id="7" name="Shape 5"/>
          <p:cNvSpPr/>
          <p:nvPr/>
        </p:nvSpPr>
        <p:spPr>
          <a:xfrm>
            <a:off x="822960" y="1371600"/>
            <a:ext cx="2953512" cy="502920"/>
          </a:xfrm>
          <a:prstGeom prst="roundRect">
            <a:avLst>
              <a:gd name="adj" fmla="val 14545"/>
            </a:avLst>
          </a:prstGeom>
          <a:solidFill>
            <a:srgbClr val="1E4D3B"/>
          </a:solidFill>
          <a:ln/>
        </p:spPr>
      </p:sp>
      <p:sp>
        <p:nvSpPr>
          <p:cNvPr id="8" name="Text 6"/>
          <p:cNvSpPr/>
          <p:nvPr/>
        </p:nvSpPr>
        <p:spPr>
          <a:xfrm>
            <a:off x="822960" y="1417320"/>
            <a:ext cx="2953512" cy="411480"/>
          </a:xfrm>
          <a:prstGeom prst="rect">
            <a:avLst/>
          </a:prstGeom>
          <a:noFill/>
          <a:ln/>
        </p:spPr>
        <p:txBody>
          <a:bodyPr wrap="square" rtlCol="0" anchor="ctr"/>
          <a:lstStyle/>
          <a:p>
            <a:pPr algn="ctr" indent="0" marL="0">
              <a:buNone/>
            </a:pPr>
            <a:r>
              <a:rPr lang="en-US" sz="1600" b="1" dirty="0">
                <a:solidFill>
                  <a:srgbClr val="C59B27"/>
                </a:solidFill>
                <a:latin typeface="Cairo" pitchFamily="34" charset="0"/>
                <a:ea typeface="Cairo" pitchFamily="34" charset="-122"/>
                <a:cs typeface="Cairo" pitchFamily="34" charset="-120"/>
              </a:rPr>
              <a:t>⚠️ المشكلة</a:t>
            </a:r>
            <a:endParaRPr lang="en-US" sz="1600" dirty="0"/>
          </a:p>
        </p:txBody>
      </p:sp>
      <p:sp>
        <p:nvSpPr>
          <p:cNvPr id="9" name="Text 7"/>
          <p:cNvSpPr/>
          <p:nvPr/>
        </p:nvSpPr>
        <p:spPr>
          <a:xfrm>
            <a:off x="777240" y="2011680"/>
            <a:ext cx="3044952" cy="2377440"/>
          </a:xfrm>
          <a:prstGeom prst="rect">
            <a:avLst/>
          </a:prstGeom>
          <a:noFill/>
          <a:ln/>
        </p:spPr>
        <p:txBody>
          <a:bodyPr wrap="square" rtlCol="0" anchor="ctr"/>
          <a:lstStyle/>
          <a:p>
            <a:pPr algn="r" indent="0" marL="0">
              <a:lnSpc>
                <a:spcPts val="2000"/>
              </a:lnSpc>
              <a:buNone/>
            </a:pPr>
            <a:r>
              <a:rPr lang="en-US" sz="1250" dirty="0">
                <a:solidFill>
                  <a:srgbClr val="1C2D31"/>
                </a:solidFill>
                <a:latin typeface="Tajawal" pitchFamily="34" charset="0"/>
                <a:ea typeface="Tajawal" pitchFamily="34" charset="-122"/>
                <a:cs typeface="Tajawal" pitchFamily="34" charset="-120"/>
              </a:rPr>
              <a:t>أغلب المنصات القرآنية إما تهتم بالحفظ والتجويد وتُهمل الجوانب التربوية والتزكوية، أو العكس تهتم بالبرامج التربوية وتُهمل حفظ القرآن وإتقانه. وكلا الأمرين مهم لا يستغنى أحد عن الآخر.</a:t>
            </a:r>
            <a:endParaRPr lang="en-US" sz="1250" dirty="0"/>
          </a:p>
        </p:txBody>
      </p:sp>
      <p:sp>
        <p:nvSpPr>
          <p:cNvPr id="10" name="Shape 8"/>
          <p:cNvSpPr/>
          <p:nvPr/>
        </p:nvSpPr>
        <p:spPr>
          <a:xfrm>
            <a:off x="4297680" y="1188720"/>
            <a:ext cx="3502152" cy="3383280"/>
          </a:xfrm>
          <a:prstGeom prst="roundRect">
            <a:avLst>
              <a:gd name="adj" fmla="val 3243"/>
            </a:avLst>
          </a:prstGeom>
          <a:solidFill>
            <a:srgbClr val="FFFFFF"/>
          </a:solidFill>
          <a:ln w="19050">
            <a:solidFill>
              <a:srgbClr val="C59B27"/>
            </a:solidFill>
            <a:prstDash val="solid"/>
          </a:ln>
          <a:effectLst>
            <a:outerShdw sx="100000" sy="100000" kx="0" ky="0" algn="bl" rotWithShape="0" blurRad="76200" dist="38100" dir="16200000">
              <a:srgbClr val="000000">
                <a:alpha val="6000"/>
              </a:srgbClr>
            </a:outerShdw>
          </a:effectLst>
        </p:spPr>
      </p:sp>
      <p:sp>
        <p:nvSpPr>
          <p:cNvPr id="11" name="Shape 9"/>
          <p:cNvSpPr/>
          <p:nvPr/>
        </p:nvSpPr>
        <p:spPr>
          <a:xfrm>
            <a:off x="4572000" y="1371600"/>
            <a:ext cx="2953512" cy="502920"/>
          </a:xfrm>
          <a:prstGeom prst="roundRect">
            <a:avLst>
              <a:gd name="adj" fmla="val 14545"/>
            </a:avLst>
          </a:prstGeom>
          <a:solidFill>
            <a:srgbClr val="1E4D3B"/>
          </a:solidFill>
          <a:ln/>
        </p:spPr>
      </p:sp>
      <p:sp>
        <p:nvSpPr>
          <p:cNvPr id="12" name="Text 10"/>
          <p:cNvSpPr/>
          <p:nvPr/>
        </p:nvSpPr>
        <p:spPr>
          <a:xfrm>
            <a:off x="4572000" y="1417320"/>
            <a:ext cx="2953512" cy="411480"/>
          </a:xfrm>
          <a:prstGeom prst="rect">
            <a:avLst/>
          </a:prstGeom>
          <a:noFill/>
          <a:ln/>
        </p:spPr>
        <p:txBody>
          <a:bodyPr wrap="square" rtlCol="0" anchor="ctr"/>
          <a:lstStyle/>
          <a:p>
            <a:pPr algn="ctr" indent="0" marL="0">
              <a:buNone/>
            </a:pPr>
            <a:r>
              <a:rPr lang="en-US" sz="1600" b="1" dirty="0">
                <a:solidFill>
                  <a:srgbClr val="C59B27"/>
                </a:solidFill>
                <a:latin typeface="Cairo" pitchFamily="34" charset="0"/>
                <a:ea typeface="Cairo" pitchFamily="34" charset="-122"/>
                <a:cs typeface="Cairo" pitchFamily="34" charset="-120"/>
              </a:rPr>
              <a:t>⭐ الأهمية</a:t>
            </a:r>
            <a:endParaRPr lang="en-US" sz="1600" dirty="0"/>
          </a:p>
        </p:txBody>
      </p:sp>
      <p:sp>
        <p:nvSpPr>
          <p:cNvPr id="13" name="Text 11"/>
          <p:cNvSpPr/>
          <p:nvPr/>
        </p:nvSpPr>
        <p:spPr>
          <a:xfrm>
            <a:off x="4526280" y="2011680"/>
            <a:ext cx="3044952" cy="2377440"/>
          </a:xfrm>
          <a:prstGeom prst="rect">
            <a:avLst/>
          </a:prstGeom>
          <a:noFill/>
          <a:ln/>
        </p:spPr>
        <p:txBody>
          <a:bodyPr wrap="square" rtlCol="0" anchor="ctr"/>
          <a:lstStyle/>
          <a:p>
            <a:pPr algn="r" indent="0" marL="0">
              <a:lnSpc>
                <a:spcPts val="2000"/>
              </a:lnSpc>
              <a:buNone/>
            </a:pPr>
            <a:r>
              <a:rPr lang="en-US" sz="1250" dirty="0">
                <a:solidFill>
                  <a:srgbClr val="1C2D31"/>
                </a:solidFill>
                <a:latin typeface="Tajawal" pitchFamily="34" charset="0"/>
                <a:ea typeface="Tajawal" pitchFamily="34" charset="-122"/>
                <a:cs typeface="Tajawal" pitchFamily="34" charset="-120"/>
              </a:rPr>
              <a:t>الأمة تمر بمحطات صعبة، وعليها السير وفق منهج النبوة (دار الأرقم): أخذ القرآن والعمل به. المشروع يرجع لهذا المنهج عبر دمج الإتقان مع مجالس الاستهداء والمعايشة العملية.</a:t>
            </a:r>
            <a:endParaRPr lang="en-US" sz="1250" dirty="0"/>
          </a:p>
        </p:txBody>
      </p:sp>
      <p:sp>
        <p:nvSpPr>
          <p:cNvPr id="14" name="Shape 12"/>
          <p:cNvSpPr/>
          <p:nvPr/>
        </p:nvSpPr>
        <p:spPr>
          <a:xfrm>
            <a:off x="8046720" y="1188720"/>
            <a:ext cx="3502152" cy="3383280"/>
          </a:xfrm>
          <a:prstGeom prst="roundRect">
            <a:avLst>
              <a:gd name="adj" fmla="val 3243"/>
            </a:avLst>
          </a:prstGeom>
          <a:solidFill>
            <a:srgbClr val="FFFFFF"/>
          </a:solidFill>
          <a:ln w="19050">
            <a:solidFill>
              <a:srgbClr val="1E4D3B"/>
            </a:solidFill>
            <a:prstDash val="solid"/>
          </a:ln>
          <a:effectLst>
            <a:outerShdw sx="100000" sy="100000" kx="0" ky="0" algn="bl" rotWithShape="0" blurRad="76200" dist="38100" dir="16200000">
              <a:srgbClr val="000000">
                <a:alpha val="6000"/>
              </a:srgbClr>
            </a:outerShdw>
          </a:effectLst>
        </p:spPr>
      </p:sp>
      <p:sp>
        <p:nvSpPr>
          <p:cNvPr id="15" name="Shape 13"/>
          <p:cNvSpPr/>
          <p:nvPr/>
        </p:nvSpPr>
        <p:spPr>
          <a:xfrm>
            <a:off x="8321040" y="1371600"/>
            <a:ext cx="2953512" cy="502920"/>
          </a:xfrm>
          <a:prstGeom prst="roundRect">
            <a:avLst>
              <a:gd name="adj" fmla="val 14545"/>
            </a:avLst>
          </a:prstGeom>
          <a:solidFill>
            <a:srgbClr val="1E4D3B"/>
          </a:solidFill>
          <a:ln/>
        </p:spPr>
      </p:sp>
      <p:sp>
        <p:nvSpPr>
          <p:cNvPr id="16" name="Text 14"/>
          <p:cNvSpPr/>
          <p:nvPr/>
        </p:nvSpPr>
        <p:spPr>
          <a:xfrm>
            <a:off x="8321040" y="1417320"/>
            <a:ext cx="2953512" cy="411480"/>
          </a:xfrm>
          <a:prstGeom prst="rect">
            <a:avLst/>
          </a:prstGeom>
          <a:noFill/>
          <a:ln/>
        </p:spPr>
        <p:txBody>
          <a:bodyPr wrap="square" rtlCol="0" anchor="ctr"/>
          <a:lstStyle/>
          <a:p>
            <a:pPr algn="ctr" indent="0" marL="0">
              <a:buNone/>
            </a:pPr>
            <a:r>
              <a:rPr lang="en-US" sz="1600" b="1" dirty="0">
                <a:solidFill>
                  <a:srgbClr val="C59B27"/>
                </a:solidFill>
                <a:latin typeface="Cairo" pitchFamily="34" charset="0"/>
                <a:ea typeface="Cairo" pitchFamily="34" charset="-122"/>
                <a:cs typeface="Cairo" pitchFamily="34" charset="-120"/>
              </a:rPr>
              <a:t>💡 الوسيلة</a:t>
            </a:r>
            <a:endParaRPr lang="en-US" sz="1600" dirty="0"/>
          </a:p>
        </p:txBody>
      </p:sp>
      <p:sp>
        <p:nvSpPr>
          <p:cNvPr id="17" name="Text 15"/>
          <p:cNvSpPr/>
          <p:nvPr/>
        </p:nvSpPr>
        <p:spPr>
          <a:xfrm>
            <a:off x="8275320" y="2011680"/>
            <a:ext cx="3044952" cy="2377440"/>
          </a:xfrm>
          <a:prstGeom prst="rect">
            <a:avLst/>
          </a:prstGeom>
          <a:noFill/>
          <a:ln/>
        </p:spPr>
        <p:txBody>
          <a:bodyPr wrap="square" rtlCol="0" anchor="ctr"/>
          <a:lstStyle/>
          <a:p>
            <a:pPr algn="r" indent="0" marL="0">
              <a:lnSpc>
                <a:spcPts val="2000"/>
              </a:lnSpc>
              <a:buNone/>
            </a:pPr>
            <a:r>
              <a:rPr lang="en-US" sz="1250" dirty="0">
                <a:solidFill>
                  <a:srgbClr val="1C2D31"/>
                </a:solidFill>
                <a:latin typeface="Tajawal" pitchFamily="34" charset="0"/>
                <a:ea typeface="Tajawal" pitchFamily="34" charset="-122"/>
                <a:cs typeface="Tajawal" pitchFamily="34" charset="-120"/>
              </a:rPr>
              <a:t>منصة إلكترونية (موقع) تضم مسارات تعليمية متنوعة، مع دمج الذكاء الاصطناعي وإنشاء محتوى بصري عبر الموشن جرافيك وفيديوهات الذكاء الاصطناعي لتوسيع الأثر.</a:t>
            </a:r>
            <a:endParaRPr lang="en-US" sz="1250" dirty="0"/>
          </a:p>
        </p:txBody>
      </p:sp>
      <p:sp>
        <p:nvSpPr>
          <p:cNvPr id="18" name="Shape 16"/>
          <p:cNvSpPr/>
          <p:nvPr/>
        </p:nvSpPr>
        <p:spPr>
          <a:xfrm>
            <a:off x="548640" y="4754880"/>
            <a:ext cx="11091672" cy="1737360"/>
          </a:xfrm>
          <a:prstGeom prst="roundRect">
            <a:avLst>
              <a:gd name="adj" fmla="val 6316"/>
            </a:avLst>
          </a:prstGeom>
          <a:solidFill>
            <a:srgbClr val="1E4D3B"/>
          </a:solidFill>
          <a:ln w="19050">
            <a:solidFill>
              <a:srgbClr val="C59B27"/>
            </a:solidFill>
            <a:prstDash val="solid"/>
          </a:ln>
        </p:spPr>
      </p:sp>
      <p:sp>
        <p:nvSpPr>
          <p:cNvPr id="19" name="Text 17"/>
          <p:cNvSpPr/>
          <p:nvPr/>
        </p:nvSpPr>
        <p:spPr>
          <a:xfrm>
            <a:off x="731520" y="4846320"/>
            <a:ext cx="10725912" cy="320040"/>
          </a:xfrm>
          <a:prstGeom prst="rect">
            <a:avLst/>
          </a:prstGeom>
          <a:noFill/>
          <a:ln/>
        </p:spPr>
        <p:txBody>
          <a:bodyPr wrap="square" rtlCol="0" anchor="ctr"/>
          <a:lstStyle/>
          <a:p>
            <a:pPr algn="r" indent="0" marL="0">
              <a:buNone/>
            </a:pPr>
            <a:r>
              <a:rPr lang="en-US" sz="1500" b="1" dirty="0">
                <a:solidFill>
                  <a:srgbClr val="C59B27"/>
                </a:solidFill>
                <a:latin typeface="Cairo" pitchFamily="34" charset="0"/>
                <a:ea typeface="Cairo" pitchFamily="34" charset="-122"/>
                <a:cs typeface="Cairo" pitchFamily="34" charset="-120"/>
              </a:rPr>
              <a:t>🌿 الثمرات المتوقعة للمشروع</a:t>
            </a:r>
            <a:endParaRPr lang="en-US" sz="1500" dirty="0"/>
          </a:p>
        </p:txBody>
      </p:sp>
      <p:sp>
        <p:nvSpPr>
          <p:cNvPr id="20" name="Text 18"/>
          <p:cNvSpPr/>
          <p:nvPr/>
        </p:nvSpPr>
        <p:spPr>
          <a:xfrm>
            <a:off x="731520" y="5212080"/>
            <a:ext cx="10725912" cy="1143000"/>
          </a:xfrm>
          <a:prstGeom prst="rect">
            <a:avLst/>
          </a:prstGeom>
          <a:noFill/>
          <a:ln/>
        </p:spPr>
        <p:txBody>
          <a:bodyPr wrap="square" rtlCol="0" anchor="ctr"/>
          <a:lstStyle/>
          <a:p>
            <a:pPr algn="r" indent="0" marL="0">
              <a:lnSpc>
                <a:spcPts val="2000"/>
              </a:lnSpc>
              <a:buNone/>
            </a:pPr>
            <a:r>
              <a:rPr lang="en-US" sz="1200" dirty="0">
                <a:solidFill>
                  <a:srgbClr val="FFFFFF"/>
                </a:solidFill>
                <a:latin typeface="Tajawal" pitchFamily="34" charset="0"/>
                <a:ea typeface="Tajawal" pitchFamily="34" charset="-122"/>
                <a:cs typeface="Tajawal" pitchFamily="34" charset="-120"/>
              </a:rPr>
              <a:t>📌 ثمرات أساسية: تعلم القرآن الكريم وإتقانه • إقامة مجالس الاستهداء بالقرآن الدائمة • التزكية بالقرآن والعمل به • المعايشة العملية للقرآن في الحياة اليومية.</a:t>
            </a:r>
            <a:endParaRPr lang="en-US" sz="1200" dirty="0"/>
          </a:p>
          <a:p>
            <a:pPr algn="r" indent="0" marL="0">
              <a:lnSpc>
                <a:spcPts val="2000"/>
              </a:lnSpc>
              <a:buNone/>
            </a:pPr>
            <a:r>
              <a:rPr lang="en-US" sz="1200" dirty="0">
                <a:solidFill>
                  <a:srgbClr val="FFFFFF"/>
                </a:solidFill>
                <a:latin typeface="Tajawal" pitchFamily="34" charset="0"/>
                <a:ea typeface="Tajawal" pitchFamily="34" charset="-122"/>
                <a:cs typeface="Tajawal" pitchFamily="34" charset="-120"/>
              </a:rPr>
              <a:t>📌 ثمرات جانبية: بناء صحبة قرآنية صالحة • التواصل المستمر مع أولياء الأمور • تغيير ثقافة المجتمع نحو القرآن كمنهاج حياة • إشغال وقت الشباب بالنافع وإبعادهم عن التفاهة.</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4D3B"/>
          </a:solidFill>
          <a:ln/>
        </p:spPr>
      </p:sp>
      <p:sp>
        <p:nvSpPr>
          <p:cNvPr id="3" name="Shape 1"/>
          <p:cNvSpPr/>
          <p:nvPr/>
        </p:nvSpPr>
        <p:spPr>
          <a:xfrm>
            <a:off x="0" y="978408"/>
            <a:ext cx="12188952" cy="45720"/>
          </a:xfrm>
          <a:prstGeom prst="rect">
            <a:avLst/>
          </a:prstGeom>
          <a:solidFill>
            <a:srgbClr val="C59B27"/>
          </a:solidFill>
          <a:ln/>
        </p:spPr>
      </p:sp>
      <p:sp>
        <p:nvSpPr>
          <p:cNvPr id="4" name="Text 2"/>
          <p:cNvSpPr/>
          <p:nvPr/>
        </p:nvSpPr>
        <p:spPr>
          <a:xfrm>
            <a:off x="457200" y="137160"/>
            <a:ext cx="11274552" cy="457200"/>
          </a:xfrm>
          <a:prstGeom prst="rect">
            <a:avLst/>
          </a:prstGeom>
          <a:noFill/>
          <a:ln/>
        </p:spPr>
        <p:txBody>
          <a:bodyPr wrap="square" rtlCol="0" anchor="ctr"/>
          <a:lstStyle/>
          <a:p>
            <a:pPr algn="r" indent="0" marL="0">
              <a:buNone/>
            </a:pPr>
            <a:r>
              <a:rPr lang="en-US" sz="2200" b="1" dirty="0">
                <a:solidFill>
                  <a:srgbClr val="C59B27"/>
                </a:solidFill>
                <a:latin typeface="Cairo" pitchFamily="34" charset="0"/>
                <a:ea typeface="Cairo" pitchFamily="34" charset="-122"/>
                <a:cs typeface="Cairo" pitchFamily="34" charset="-120"/>
              </a:rPr>
              <a:t>أسباب اختيار الثغر والمشروع — دوافع الانطلاق</a:t>
            </a:r>
            <a:endParaRPr lang="en-US" sz="2200" dirty="0"/>
          </a:p>
        </p:txBody>
      </p:sp>
      <p:sp>
        <p:nvSpPr>
          <p:cNvPr id="5" name="Text 3"/>
          <p:cNvSpPr/>
          <p:nvPr/>
        </p:nvSpPr>
        <p:spPr>
          <a:xfrm>
            <a:off x="457200" y="566928"/>
            <a:ext cx="11274552" cy="320040"/>
          </a:xfrm>
          <a:prstGeom prst="rect">
            <a:avLst/>
          </a:prstGeom>
          <a:noFill/>
          <a:ln/>
        </p:spPr>
        <p:txBody>
          <a:bodyPr wrap="square" rtlCol="0" anchor="ctr"/>
          <a:lstStyle/>
          <a:p>
            <a:pPr algn="r" indent="0" marL="0">
              <a:buNone/>
            </a:pPr>
            <a:r>
              <a:rPr lang="en-US" sz="1300" dirty="0">
                <a:solidFill>
                  <a:srgbClr val="E2E8F0"/>
                </a:solidFill>
                <a:latin typeface="Tajawal" pitchFamily="34" charset="0"/>
                <a:ea typeface="Tajawal" pitchFamily="34" charset="-122"/>
                <a:cs typeface="Tajawal" pitchFamily="34" charset="-120"/>
              </a:rPr>
              <a:t>الركائز الذاتية والواقعية والموارد المتاحة للمشروع</a:t>
            </a:r>
            <a:endParaRPr lang="en-US" sz="1300" dirty="0"/>
          </a:p>
        </p:txBody>
      </p:sp>
      <p:sp>
        <p:nvSpPr>
          <p:cNvPr id="6" name="Shape 4"/>
          <p:cNvSpPr/>
          <p:nvPr/>
        </p:nvSpPr>
        <p:spPr>
          <a:xfrm>
            <a:off x="548640" y="1188720"/>
            <a:ext cx="3502152" cy="5303520"/>
          </a:xfrm>
          <a:prstGeom prst="roundRect">
            <a:avLst>
              <a:gd name="adj" fmla="val 3133"/>
            </a:avLst>
          </a:prstGeom>
          <a:solidFill>
            <a:srgbClr val="FFFFFF"/>
          </a:solidFill>
          <a:ln w="19050">
            <a:solidFill>
              <a:srgbClr val="1E4D3B"/>
            </a:solidFill>
            <a:prstDash val="solid"/>
          </a:ln>
          <a:effectLst>
            <a:outerShdw sx="100000" sy="100000" kx="0" ky="0" algn="bl" rotWithShape="0" blurRad="76200" dist="38100" dir="16200000">
              <a:srgbClr val="000000">
                <a:alpha val="5000"/>
              </a:srgbClr>
            </a:outerShdw>
          </a:effectLst>
        </p:spPr>
      </p:sp>
      <p:sp>
        <p:nvSpPr>
          <p:cNvPr id="7" name="Shape 5"/>
          <p:cNvSpPr/>
          <p:nvPr/>
        </p:nvSpPr>
        <p:spPr>
          <a:xfrm>
            <a:off x="731520" y="1371600"/>
            <a:ext cx="3136392" cy="594360"/>
          </a:xfrm>
          <a:prstGeom prst="roundRect">
            <a:avLst>
              <a:gd name="adj" fmla="val 12308"/>
            </a:avLst>
          </a:prstGeom>
          <a:solidFill>
            <a:srgbClr val="1E4D3B"/>
          </a:solidFill>
          <a:ln w="12700">
            <a:solidFill>
              <a:srgbClr val="C59B27"/>
            </a:solidFill>
            <a:prstDash val="solid"/>
          </a:ln>
        </p:spPr>
      </p:sp>
      <p:sp>
        <p:nvSpPr>
          <p:cNvPr id="8" name="Text 6"/>
          <p:cNvSpPr/>
          <p:nvPr/>
        </p:nvSpPr>
        <p:spPr>
          <a:xfrm>
            <a:off x="731520" y="1417320"/>
            <a:ext cx="3136392" cy="502920"/>
          </a:xfrm>
          <a:prstGeom prst="rect">
            <a:avLst/>
          </a:prstGeom>
          <a:noFill/>
          <a:ln/>
        </p:spPr>
        <p:txBody>
          <a:bodyPr wrap="square" rtlCol="0" anchor="ctr"/>
          <a:lstStyle/>
          <a:p>
            <a:pPr algn="ctr" indent="0" marL="0">
              <a:buNone/>
            </a:pPr>
            <a:r>
              <a:rPr lang="en-US" sz="1350" b="1" dirty="0">
                <a:solidFill>
                  <a:srgbClr val="C59B27"/>
                </a:solidFill>
                <a:latin typeface="Cairo" pitchFamily="34" charset="0"/>
                <a:ea typeface="Cairo" pitchFamily="34" charset="-122"/>
                <a:cs typeface="Cairo" pitchFamily="34" charset="-120"/>
              </a:rPr>
              <a:t>1️⃣ الأسباب الذاتية والخبرة الميدانية</a:t>
            </a:r>
            <a:endParaRPr lang="en-US" sz="1350" dirty="0"/>
          </a:p>
        </p:txBody>
      </p:sp>
      <p:sp>
        <p:nvSpPr>
          <p:cNvPr id="9" name="Text 7"/>
          <p:cNvSpPr/>
          <p:nvPr/>
        </p:nvSpPr>
        <p:spPr>
          <a:xfrm>
            <a:off x="822960" y="2148840"/>
            <a:ext cx="2953512" cy="411480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التواجد في حلقات القرآن الكريم وتحفيظه منذ الصغر.</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المشاركة والمساهمة المستمرة في المخيمات القرآنية الصيفية.</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تجربة عمل ميدانية ناجحة في مدينة أفيون (قرآن، تربية، وتواصل).</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الحصول على إجازات في القرآن الكريم والمتون العلمية.</a:t>
            </a:r>
            <a:endParaRPr lang="en-US" sz="1200" dirty="0"/>
          </a:p>
        </p:txBody>
      </p:sp>
      <p:sp>
        <p:nvSpPr>
          <p:cNvPr id="10" name="Shape 8"/>
          <p:cNvSpPr/>
          <p:nvPr/>
        </p:nvSpPr>
        <p:spPr>
          <a:xfrm>
            <a:off x="4297680" y="1188720"/>
            <a:ext cx="3502152" cy="5303520"/>
          </a:xfrm>
          <a:prstGeom prst="roundRect">
            <a:avLst>
              <a:gd name="adj" fmla="val 3133"/>
            </a:avLst>
          </a:prstGeom>
          <a:solidFill>
            <a:srgbClr val="FFFFFF"/>
          </a:solidFill>
          <a:ln w="19050">
            <a:solidFill>
              <a:srgbClr val="C59B27"/>
            </a:solidFill>
            <a:prstDash val="solid"/>
          </a:ln>
          <a:effectLst>
            <a:outerShdw sx="100000" sy="100000" kx="0" ky="0" algn="bl" rotWithShape="0" blurRad="76200" dist="38100" dir="16200000">
              <a:srgbClr val="000000">
                <a:alpha val="5000"/>
              </a:srgbClr>
            </a:outerShdw>
          </a:effectLst>
        </p:spPr>
      </p:sp>
      <p:sp>
        <p:nvSpPr>
          <p:cNvPr id="11" name="Shape 9"/>
          <p:cNvSpPr/>
          <p:nvPr/>
        </p:nvSpPr>
        <p:spPr>
          <a:xfrm>
            <a:off x="4480560" y="1371600"/>
            <a:ext cx="3136392" cy="594360"/>
          </a:xfrm>
          <a:prstGeom prst="roundRect">
            <a:avLst>
              <a:gd name="adj" fmla="val 12308"/>
            </a:avLst>
          </a:prstGeom>
          <a:solidFill>
            <a:srgbClr val="1E4D3B"/>
          </a:solidFill>
          <a:ln w="12700">
            <a:solidFill>
              <a:srgbClr val="C59B27"/>
            </a:solidFill>
            <a:prstDash val="solid"/>
          </a:ln>
        </p:spPr>
      </p:sp>
      <p:sp>
        <p:nvSpPr>
          <p:cNvPr id="12" name="Text 10"/>
          <p:cNvSpPr/>
          <p:nvPr/>
        </p:nvSpPr>
        <p:spPr>
          <a:xfrm>
            <a:off x="4480560" y="1417320"/>
            <a:ext cx="3136392" cy="502920"/>
          </a:xfrm>
          <a:prstGeom prst="rect">
            <a:avLst/>
          </a:prstGeom>
          <a:noFill/>
          <a:ln/>
        </p:spPr>
        <p:txBody>
          <a:bodyPr wrap="square" rtlCol="0" anchor="ctr"/>
          <a:lstStyle/>
          <a:p>
            <a:pPr algn="ctr" indent="0" marL="0">
              <a:buNone/>
            </a:pPr>
            <a:r>
              <a:rPr lang="en-US" sz="1350" b="1" dirty="0">
                <a:solidFill>
                  <a:srgbClr val="C59B27"/>
                </a:solidFill>
                <a:latin typeface="Cairo" pitchFamily="34" charset="0"/>
                <a:ea typeface="Cairo" pitchFamily="34" charset="-122"/>
                <a:cs typeface="Cairo" pitchFamily="34" charset="-120"/>
              </a:rPr>
              <a:t>2️⃣ الأسباب الواقعية والضرورة الملحة</a:t>
            </a:r>
            <a:endParaRPr lang="en-US" sz="1350" dirty="0"/>
          </a:p>
        </p:txBody>
      </p:sp>
      <p:sp>
        <p:nvSpPr>
          <p:cNvPr id="13" name="Text 11"/>
          <p:cNvSpPr/>
          <p:nvPr/>
        </p:nvSpPr>
        <p:spPr>
          <a:xfrm>
            <a:off x="4572000" y="2148840"/>
            <a:ext cx="2953512" cy="411480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ضيق الأنشطة الحضورية يضطر الكثيرين للجلوس في المنازل.</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طبيعة العمل والدراسة في تركيا وأوروبا لا تسمح بالدوام التقليدي.</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التعليم الإلكتروني أصبح واقعاً ملموساً وضرورة معاصرة.</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دمج الذكاء الاصطناعي يفتح أفقاً كبيراً لتطوير العملية التربوية.</a:t>
            </a:r>
            <a:endParaRPr lang="en-US" sz="1200" dirty="0"/>
          </a:p>
        </p:txBody>
      </p:sp>
      <p:sp>
        <p:nvSpPr>
          <p:cNvPr id="14" name="Shape 12"/>
          <p:cNvSpPr/>
          <p:nvPr/>
        </p:nvSpPr>
        <p:spPr>
          <a:xfrm>
            <a:off x="8046720" y="1188720"/>
            <a:ext cx="3502152" cy="5303520"/>
          </a:xfrm>
          <a:prstGeom prst="roundRect">
            <a:avLst>
              <a:gd name="adj" fmla="val 3133"/>
            </a:avLst>
          </a:prstGeom>
          <a:solidFill>
            <a:srgbClr val="FFFFFF"/>
          </a:solidFill>
          <a:ln w="19050">
            <a:solidFill>
              <a:srgbClr val="1E4D3B"/>
            </a:solidFill>
            <a:prstDash val="solid"/>
          </a:ln>
          <a:effectLst>
            <a:outerShdw sx="100000" sy="100000" kx="0" ky="0" algn="bl" rotWithShape="0" blurRad="76200" dist="38100" dir="16200000">
              <a:srgbClr val="000000">
                <a:alpha val="5000"/>
              </a:srgbClr>
            </a:outerShdw>
          </a:effectLst>
        </p:spPr>
      </p:sp>
      <p:sp>
        <p:nvSpPr>
          <p:cNvPr id="15" name="Shape 13"/>
          <p:cNvSpPr/>
          <p:nvPr/>
        </p:nvSpPr>
        <p:spPr>
          <a:xfrm>
            <a:off x="8229600" y="1371600"/>
            <a:ext cx="3136392" cy="594360"/>
          </a:xfrm>
          <a:prstGeom prst="roundRect">
            <a:avLst>
              <a:gd name="adj" fmla="val 12308"/>
            </a:avLst>
          </a:prstGeom>
          <a:solidFill>
            <a:srgbClr val="1E4D3B"/>
          </a:solidFill>
          <a:ln w="12700">
            <a:solidFill>
              <a:srgbClr val="C59B27"/>
            </a:solidFill>
            <a:prstDash val="solid"/>
          </a:ln>
        </p:spPr>
      </p:sp>
      <p:sp>
        <p:nvSpPr>
          <p:cNvPr id="16" name="Text 14"/>
          <p:cNvSpPr/>
          <p:nvPr/>
        </p:nvSpPr>
        <p:spPr>
          <a:xfrm>
            <a:off x="8229600" y="1417320"/>
            <a:ext cx="3136392" cy="502920"/>
          </a:xfrm>
          <a:prstGeom prst="rect">
            <a:avLst/>
          </a:prstGeom>
          <a:noFill/>
          <a:ln/>
        </p:spPr>
        <p:txBody>
          <a:bodyPr wrap="square" rtlCol="0" anchor="ctr"/>
          <a:lstStyle/>
          <a:p>
            <a:pPr algn="ctr" indent="0" marL="0">
              <a:buNone/>
            </a:pPr>
            <a:r>
              <a:rPr lang="en-US" sz="1350" b="1" dirty="0">
                <a:solidFill>
                  <a:srgbClr val="C59B27"/>
                </a:solidFill>
                <a:latin typeface="Cairo" pitchFamily="34" charset="0"/>
                <a:ea typeface="Cairo" pitchFamily="34" charset="-122"/>
                <a:cs typeface="Cairo" pitchFamily="34" charset="-120"/>
              </a:rPr>
              <a:t>3️⃣ الموارد والفرص المتاحة</a:t>
            </a:r>
            <a:endParaRPr lang="en-US" sz="1350" dirty="0"/>
          </a:p>
        </p:txBody>
      </p:sp>
      <p:sp>
        <p:nvSpPr>
          <p:cNvPr id="17" name="Text 15"/>
          <p:cNvSpPr/>
          <p:nvPr/>
        </p:nvSpPr>
        <p:spPr>
          <a:xfrm>
            <a:off x="8321040" y="2148840"/>
            <a:ext cx="2953512" cy="411480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توفر الوقت الكافي لإدارة المشروع والإشراف التام عليه.</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الجاهزية التقنية وخبرة دمج أدوات الذكاء الاصطناعي.</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شبكة علاقات واسعة مع معلمين، مصممين، ومستشارين تربويين.</a:t>
            </a:r>
            <a:endParaRPr lang="en-US" sz="1200" dirty="0"/>
          </a:p>
          <a:p>
            <a:pPr algn="r" indent="0" marL="0">
              <a:lnSpc>
                <a:spcPts val="1800"/>
              </a:lnSpc>
              <a:buNone/>
            </a:pPr>
            <a:endParaRPr lang="en-US" sz="1200" dirty="0"/>
          </a:p>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 توفر الدعم المالي المبدئي للانطلاق المباشر.</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4D3B"/>
          </a:solidFill>
          <a:ln/>
        </p:spPr>
      </p:sp>
      <p:sp>
        <p:nvSpPr>
          <p:cNvPr id="3" name="Shape 1"/>
          <p:cNvSpPr/>
          <p:nvPr/>
        </p:nvSpPr>
        <p:spPr>
          <a:xfrm>
            <a:off x="0" y="978408"/>
            <a:ext cx="12188952" cy="45720"/>
          </a:xfrm>
          <a:prstGeom prst="rect">
            <a:avLst/>
          </a:prstGeom>
          <a:solidFill>
            <a:srgbClr val="C59B27"/>
          </a:solidFill>
          <a:ln/>
        </p:spPr>
      </p:sp>
      <p:sp>
        <p:nvSpPr>
          <p:cNvPr id="4" name="Text 2"/>
          <p:cNvSpPr/>
          <p:nvPr/>
        </p:nvSpPr>
        <p:spPr>
          <a:xfrm>
            <a:off x="457200" y="137160"/>
            <a:ext cx="11274552" cy="457200"/>
          </a:xfrm>
          <a:prstGeom prst="rect">
            <a:avLst/>
          </a:prstGeom>
          <a:noFill/>
          <a:ln/>
        </p:spPr>
        <p:txBody>
          <a:bodyPr wrap="square" rtlCol="0" anchor="ctr"/>
          <a:lstStyle/>
          <a:p>
            <a:pPr algn="r" indent="0" marL="0">
              <a:buNone/>
            </a:pPr>
            <a:r>
              <a:rPr lang="en-US" sz="2200" b="1" dirty="0">
                <a:solidFill>
                  <a:srgbClr val="C59B27"/>
                </a:solidFill>
                <a:latin typeface="Cairo" pitchFamily="34" charset="0"/>
                <a:ea typeface="Cairo" pitchFamily="34" charset="-122"/>
                <a:cs typeface="Cairo" pitchFamily="34" charset="-120"/>
              </a:rPr>
              <a:t>التعريف بالمشروع ونظامه وخارطة الطريق</a:t>
            </a:r>
            <a:endParaRPr lang="en-US" sz="2200" dirty="0"/>
          </a:p>
        </p:txBody>
      </p:sp>
      <p:sp>
        <p:nvSpPr>
          <p:cNvPr id="5" name="Text 3"/>
          <p:cNvSpPr/>
          <p:nvPr/>
        </p:nvSpPr>
        <p:spPr>
          <a:xfrm>
            <a:off x="457200" y="566928"/>
            <a:ext cx="11274552" cy="320040"/>
          </a:xfrm>
          <a:prstGeom prst="rect">
            <a:avLst/>
          </a:prstGeom>
          <a:noFill/>
          <a:ln/>
        </p:spPr>
        <p:txBody>
          <a:bodyPr wrap="square" rtlCol="0" anchor="ctr"/>
          <a:lstStyle/>
          <a:p>
            <a:pPr algn="r" indent="0" marL="0">
              <a:buNone/>
            </a:pPr>
            <a:r>
              <a:rPr lang="en-US" sz="1300" dirty="0">
                <a:solidFill>
                  <a:srgbClr val="E2E8F0"/>
                </a:solidFill>
                <a:latin typeface="Tajawal" pitchFamily="34" charset="0"/>
                <a:ea typeface="Tajawal" pitchFamily="34" charset="-122"/>
                <a:cs typeface="Tajawal" pitchFamily="34" charset="-120"/>
              </a:rPr>
              <a:t>الرؤية التنفيذية ومراحل النمو والتوسع المستقبلي</a:t>
            </a:r>
            <a:endParaRPr lang="en-US" sz="1300" dirty="0"/>
          </a:p>
        </p:txBody>
      </p:sp>
      <p:sp>
        <p:nvSpPr>
          <p:cNvPr id="6" name="Shape 4"/>
          <p:cNvSpPr/>
          <p:nvPr/>
        </p:nvSpPr>
        <p:spPr>
          <a:xfrm>
            <a:off x="6217920" y="1188720"/>
            <a:ext cx="5422392" cy="2011680"/>
          </a:xfrm>
          <a:prstGeom prst="roundRect">
            <a:avLst>
              <a:gd name="adj" fmla="val 5455"/>
            </a:avLst>
          </a:prstGeom>
          <a:solidFill>
            <a:srgbClr val="FFFFFF"/>
          </a:solidFill>
          <a:ln w="19050">
            <a:solidFill>
              <a:srgbClr val="1E4D3B"/>
            </a:solidFill>
            <a:prstDash val="solid"/>
          </a:ln>
          <a:effectLst>
            <a:outerShdw sx="100000" sy="100000" kx="0" ky="0" algn="bl" rotWithShape="0" blurRad="63500" dist="25400" dir="16200000">
              <a:srgbClr val="000000">
                <a:alpha val="5000"/>
              </a:srgbClr>
            </a:outerShdw>
          </a:effectLst>
        </p:spPr>
      </p:sp>
      <p:sp>
        <p:nvSpPr>
          <p:cNvPr id="7" name="Text 5"/>
          <p:cNvSpPr/>
          <p:nvPr/>
        </p:nvSpPr>
        <p:spPr>
          <a:xfrm>
            <a:off x="6400800" y="1325880"/>
            <a:ext cx="5056632" cy="320040"/>
          </a:xfrm>
          <a:prstGeom prst="rect">
            <a:avLst/>
          </a:prstGeom>
          <a:noFill/>
          <a:ln/>
        </p:spPr>
        <p:txBody>
          <a:bodyPr wrap="square" rtlCol="0" anchor="ctr"/>
          <a:lstStyle/>
          <a:p>
            <a:pPr algn="r" indent="0" marL="0">
              <a:buNone/>
            </a:pPr>
            <a:r>
              <a:rPr lang="en-US" sz="1500" b="1" dirty="0">
                <a:solidFill>
                  <a:srgbClr val="1E4D3B"/>
                </a:solidFill>
                <a:latin typeface="Cairo" pitchFamily="34" charset="0"/>
                <a:ea typeface="Cairo" pitchFamily="34" charset="-122"/>
                <a:cs typeface="Cairo" pitchFamily="34" charset="-120"/>
              </a:rPr>
              <a:t>📖 التعريف بالمشروع</a:t>
            </a:r>
            <a:endParaRPr lang="en-US" sz="1500" dirty="0"/>
          </a:p>
        </p:txBody>
      </p:sp>
      <p:sp>
        <p:nvSpPr>
          <p:cNvPr id="8" name="Text 6"/>
          <p:cNvSpPr/>
          <p:nvPr/>
        </p:nvSpPr>
        <p:spPr>
          <a:xfrm>
            <a:off x="6400800" y="1691640"/>
            <a:ext cx="5056632" cy="1371600"/>
          </a:xfrm>
          <a:prstGeom prst="rect">
            <a:avLst/>
          </a:prstGeom>
          <a:noFill/>
          <a:ln/>
        </p:spPr>
        <p:txBody>
          <a:bodyPr wrap="square" rtlCol="0" anchor="ctr"/>
          <a:lstStyle/>
          <a:p>
            <a:pPr algn="r" indent="0" marL="0">
              <a:lnSpc>
                <a:spcPts val="1800"/>
              </a:lnSpc>
              <a:buNone/>
            </a:pPr>
            <a:r>
              <a:rPr lang="en-US" sz="1250" dirty="0">
                <a:solidFill>
                  <a:srgbClr val="1C2D31"/>
                </a:solidFill>
                <a:latin typeface="Tajawal" pitchFamily="34" charset="0"/>
                <a:ea typeface="Tajawal" pitchFamily="34" charset="-122"/>
                <a:cs typeface="Tajawal" pitchFamily="34" charset="-120"/>
              </a:rPr>
              <a:t>منصة قرآنية تعليمية متكاملة تجمع بين الإتقان في التلاوة والحفظ، ومجالس الاستهداء بالقرآن، والتزكية به، والعمل به، لجعل القرآن مشروع حياة لدى شباب الجيل الصاعد.</a:t>
            </a:r>
            <a:endParaRPr lang="en-US" sz="1250" dirty="0"/>
          </a:p>
        </p:txBody>
      </p:sp>
      <p:sp>
        <p:nvSpPr>
          <p:cNvPr id="9" name="Shape 7"/>
          <p:cNvSpPr/>
          <p:nvPr/>
        </p:nvSpPr>
        <p:spPr>
          <a:xfrm>
            <a:off x="548640" y="1188720"/>
            <a:ext cx="5422392" cy="2011680"/>
          </a:xfrm>
          <a:prstGeom prst="roundRect">
            <a:avLst>
              <a:gd name="adj" fmla="val 5455"/>
            </a:avLst>
          </a:prstGeom>
          <a:solidFill>
            <a:srgbClr val="FFFFFF"/>
          </a:solidFill>
          <a:ln w="19050">
            <a:solidFill>
              <a:srgbClr val="C59B27"/>
            </a:solidFill>
            <a:prstDash val="solid"/>
          </a:ln>
          <a:effectLst>
            <a:outerShdw sx="100000" sy="100000" kx="0" ky="0" algn="bl" rotWithShape="0" blurRad="63500" dist="25400" dir="16200000">
              <a:srgbClr val="000000">
                <a:alpha val="5000"/>
              </a:srgbClr>
            </a:outerShdw>
          </a:effectLst>
        </p:spPr>
      </p:sp>
      <p:sp>
        <p:nvSpPr>
          <p:cNvPr id="10" name="Text 8"/>
          <p:cNvSpPr/>
          <p:nvPr/>
        </p:nvSpPr>
        <p:spPr>
          <a:xfrm>
            <a:off x="731520" y="1325880"/>
            <a:ext cx="5056632" cy="320040"/>
          </a:xfrm>
          <a:prstGeom prst="rect">
            <a:avLst/>
          </a:prstGeom>
          <a:noFill/>
          <a:ln/>
        </p:spPr>
        <p:txBody>
          <a:bodyPr wrap="square" rtlCol="0" anchor="ctr"/>
          <a:lstStyle/>
          <a:p>
            <a:pPr algn="r" indent="0" marL="0">
              <a:buNone/>
            </a:pPr>
            <a:r>
              <a:rPr lang="en-US" sz="1500" b="1" dirty="0">
                <a:solidFill>
                  <a:srgbClr val="C59B27"/>
                </a:solidFill>
                <a:latin typeface="Cairo" pitchFamily="34" charset="0"/>
                <a:ea typeface="Cairo" pitchFamily="34" charset="-122"/>
                <a:cs typeface="Cairo" pitchFamily="34" charset="-120"/>
              </a:rPr>
              <a:t>🎯 الأهداف الاستراتيجية</a:t>
            </a:r>
            <a:endParaRPr lang="en-US" sz="1500" dirty="0"/>
          </a:p>
        </p:txBody>
      </p:sp>
      <p:sp>
        <p:nvSpPr>
          <p:cNvPr id="11" name="Text 9"/>
          <p:cNvSpPr/>
          <p:nvPr/>
        </p:nvSpPr>
        <p:spPr>
          <a:xfrm>
            <a:off x="731520" y="1691640"/>
            <a:ext cx="5056632" cy="1371600"/>
          </a:xfrm>
          <a:prstGeom prst="rect">
            <a:avLst/>
          </a:prstGeom>
          <a:noFill/>
          <a:ln/>
        </p:spPr>
        <p:txBody>
          <a:bodyPr wrap="square" rtlCol="0" anchor="ctr"/>
          <a:lstStyle/>
          <a:p>
            <a:pPr algn="r" indent="0" marL="0">
              <a:lnSpc>
                <a:spcPts val="1600"/>
              </a:lnSpc>
              <a:buNone/>
            </a:pPr>
            <a:r>
              <a:rPr lang="en-US" sz="1200" dirty="0">
                <a:solidFill>
                  <a:srgbClr val="1C2D31"/>
                </a:solidFill>
                <a:latin typeface="Tajawal" pitchFamily="34" charset="0"/>
                <a:ea typeface="Tajawal" pitchFamily="34" charset="-122"/>
                <a:cs typeface="Tajawal" pitchFamily="34" charset="-120"/>
              </a:rPr>
              <a:t>• الوصول لشريحة واسعة من الشباب في تركيا وأوروبا والعالم العربي.</a:t>
            </a:r>
            <a:endParaRPr lang="en-US" sz="1200" dirty="0"/>
          </a:p>
          <a:p>
            <a:pPr algn="r" indent="0" marL="0">
              <a:lnSpc>
                <a:spcPts val="1600"/>
              </a:lnSpc>
              <a:buNone/>
            </a:pPr>
            <a:r>
              <a:rPr lang="en-US" sz="1200" dirty="0">
                <a:solidFill>
                  <a:srgbClr val="1C2D31"/>
                </a:solidFill>
                <a:latin typeface="Tajawal" pitchFamily="34" charset="0"/>
                <a:ea typeface="Tajawal" pitchFamily="34" charset="-122"/>
                <a:cs typeface="Tajawal" pitchFamily="34" charset="-120"/>
              </a:rPr>
              <a:t>• خلق بيئة قرآنية إلكترونية جاذبة ومحفزة على الاستمرار.</a:t>
            </a:r>
            <a:endParaRPr lang="en-US" sz="1200" dirty="0"/>
          </a:p>
          <a:p>
            <a:pPr algn="r" indent="0" marL="0">
              <a:lnSpc>
                <a:spcPts val="1600"/>
              </a:lnSpc>
              <a:buNone/>
            </a:pPr>
            <a:r>
              <a:rPr lang="en-US" sz="1200" dirty="0">
                <a:solidFill>
                  <a:srgbClr val="1C2D31"/>
                </a:solidFill>
                <a:latin typeface="Tajawal" pitchFamily="34" charset="0"/>
                <a:ea typeface="Tajawal" pitchFamily="34" charset="-122"/>
                <a:cs typeface="Tajawal" pitchFamily="34" charset="-120"/>
              </a:rPr>
              <a:t>• تطوير وتطوير المحتوى القرآني عبر الإعلام الرقمي المبتكر.</a:t>
            </a:r>
            <a:endParaRPr lang="en-US" sz="1200" dirty="0"/>
          </a:p>
          <a:p>
            <a:pPr algn="r" indent="0" marL="0">
              <a:lnSpc>
                <a:spcPts val="1600"/>
              </a:lnSpc>
              <a:buNone/>
            </a:pPr>
            <a:r>
              <a:rPr lang="en-US" sz="1200" dirty="0">
                <a:solidFill>
                  <a:srgbClr val="1C2D31"/>
                </a:solidFill>
                <a:latin typeface="Tajawal" pitchFamily="34" charset="0"/>
                <a:ea typeface="Tajawal" pitchFamily="34" charset="-122"/>
                <a:cs typeface="Tajawal" pitchFamily="34" charset="-120"/>
              </a:rPr>
              <a:t>• بناء أجيال معايشة للقرآن تنطلق من الفهم إلى العمل والتطبيق.</a:t>
            </a:r>
            <a:endParaRPr lang="en-US" sz="1200" dirty="0"/>
          </a:p>
        </p:txBody>
      </p:sp>
      <p:sp>
        <p:nvSpPr>
          <p:cNvPr id="12" name="Shape 10"/>
          <p:cNvSpPr/>
          <p:nvPr/>
        </p:nvSpPr>
        <p:spPr>
          <a:xfrm>
            <a:off x="548640" y="3383280"/>
            <a:ext cx="11091672" cy="3108960"/>
          </a:xfrm>
          <a:prstGeom prst="roundRect">
            <a:avLst>
              <a:gd name="adj" fmla="val 3529"/>
            </a:avLst>
          </a:prstGeom>
          <a:solidFill>
            <a:srgbClr val="1E4D3B"/>
          </a:solidFill>
          <a:ln w="19050">
            <a:solidFill>
              <a:srgbClr val="C59B27"/>
            </a:solidFill>
            <a:prstDash val="solid"/>
          </a:ln>
        </p:spPr>
      </p:sp>
      <p:sp>
        <p:nvSpPr>
          <p:cNvPr id="13" name="Text 11"/>
          <p:cNvSpPr/>
          <p:nvPr/>
        </p:nvSpPr>
        <p:spPr>
          <a:xfrm>
            <a:off x="731520" y="3520440"/>
            <a:ext cx="10725912" cy="320040"/>
          </a:xfrm>
          <a:prstGeom prst="rect">
            <a:avLst/>
          </a:prstGeom>
          <a:noFill/>
          <a:ln/>
        </p:spPr>
        <p:txBody>
          <a:bodyPr wrap="square" rtlCol="0" anchor="ctr"/>
          <a:lstStyle/>
          <a:p>
            <a:pPr algn="r" indent="0" marL="0">
              <a:buNone/>
            </a:pPr>
            <a:r>
              <a:rPr lang="en-US" sz="1500" b="1" dirty="0">
                <a:solidFill>
                  <a:srgbClr val="C59B27"/>
                </a:solidFill>
                <a:latin typeface="Cairo" pitchFamily="34" charset="0"/>
                <a:ea typeface="Cairo" pitchFamily="34" charset="-122"/>
                <a:cs typeface="Cairo" pitchFamily="34" charset="-120"/>
              </a:rPr>
              <a:t>🗺️ خارطة الطريق ومراحل النمو والتنفيذ (Roadmap Timeline)</a:t>
            </a:r>
            <a:endParaRPr lang="en-US" sz="1500" dirty="0"/>
          </a:p>
        </p:txBody>
      </p:sp>
      <p:sp>
        <p:nvSpPr>
          <p:cNvPr id="14" name="Shape 12"/>
          <p:cNvSpPr/>
          <p:nvPr/>
        </p:nvSpPr>
        <p:spPr>
          <a:xfrm>
            <a:off x="9509760" y="3931920"/>
            <a:ext cx="2011680" cy="2377440"/>
          </a:xfrm>
          <a:prstGeom prst="roundRect">
            <a:avLst>
              <a:gd name="adj" fmla="val 3636"/>
            </a:avLst>
          </a:prstGeom>
          <a:solidFill>
            <a:srgbClr val="FFFFFF"/>
          </a:solidFill>
          <a:ln w="12700">
            <a:solidFill>
              <a:srgbClr val="C59B27"/>
            </a:solidFill>
            <a:prstDash val="solid"/>
          </a:ln>
        </p:spPr>
      </p:sp>
      <p:sp>
        <p:nvSpPr>
          <p:cNvPr id="15" name="Shape 13"/>
          <p:cNvSpPr/>
          <p:nvPr/>
        </p:nvSpPr>
        <p:spPr>
          <a:xfrm>
            <a:off x="10241280" y="4069080"/>
            <a:ext cx="548640" cy="548640"/>
          </a:xfrm>
          <a:prstGeom prst="ellipse">
            <a:avLst/>
          </a:prstGeom>
          <a:solidFill>
            <a:srgbClr val="C59B27"/>
          </a:solidFill>
          <a:ln/>
        </p:spPr>
      </p:sp>
      <p:sp>
        <p:nvSpPr>
          <p:cNvPr id="16" name="Text 14"/>
          <p:cNvSpPr/>
          <p:nvPr/>
        </p:nvSpPr>
        <p:spPr>
          <a:xfrm>
            <a:off x="10241280" y="4069080"/>
            <a:ext cx="548640" cy="548640"/>
          </a:xfrm>
          <a:prstGeom prst="rect">
            <a:avLst/>
          </a:prstGeom>
          <a:noFill/>
          <a:ln/>
        </p:spPr>
        <p:txBody>
          <a:bodyPr wrap="square" rtlCol="0" anchor="ctr"/>
          <a:lstStyle/>
          <a:p>
            <a:pPr algn="ctr" indent="0" marL="0">
              <a:buNone/>
            </a:pPr>
            <a:r>
              <a:rPr lang="en-US" sz="1500" b="1" dirty="0">
                <a:solidFill>
                  <a:srgbClr val="1E4D3B"/>
                </a:solidFill>
                <a:latin typeface="Cairo" pitchFamily="34" charset="0"/>
                <a:ea typeface="Cairo" pitchFamily="34" charset="-122"/>
                <a:cs typeface="Cairo" pitchFamily="34" charset="-120"/>
              </a:rPr>
              <a:t>1</a:t>
            </a:r>
            <a:endParaRPr lang="en-US" sz="1500" dirty="0"/>
          </a:p>
        </p:txBody>
      </p:sp>
      <p:sp>
        <p:nvSpPr>
          <p:cNvPr id="17" name="Text 15"/>
          <p:cNvSpPr/>
          <p:nvPr/>
        </p:nvSpPr>
        <p:spPr>
          <a:xfrm>
            <a:off x="9555480" y="4663440"/>
            <a:ext cx="1920240" cy="320040"/>
          </a:xfrm>
          <a:prstGeom prst="rect">
            <a:avLst/>
          </a:prstGeom>
          <a:noFill/>
          <a:ln/>
        </p:spPr>
        <p:txBody>
          <a:bodyPr wrap="square" rtlCol="0" anchor="ctr"/>
          <a:lstStyle/>
          <a:p>
            <a:pPr algn="ctr" indent="0" marL="0">
              <a:buNone/>
            </a:pPr>
            <a:r>
              <a:rPr lang="en-US" sz="1250" b="1" dirty="0">
                <a:solidFill>
                  <a:srgbClr val="1E4D3B"/>
                </a:solidFill>
                <a:latin typeface="Cairo" pitchFamily="34" charset="0"/>
                <a:ea typeface="Cairo" pitchFamily="34" charset="-122"/>
                <a:cs typeface="Cairo" pitchFamily="34" charset="-120"/>
              </a:rPr>
              <a:t>التحضير</a:t>
            </a:r>
            <a:endParaRPr lang="en-US" sz="1250" dirty="0"/>
          </a:p>
        </p:txBody>
      </p:sp>
      <p:sp>
        <p:nvSpPr>
          <p:cNvPr id="18" name="Text 16"/>
          <p:cNvSpPr/>
          <p:nvPr/>
        </p:nvSpPr>
        <p:spPr>
          <a:xfrm>
            <a:off x="9555480" y="4983480"/>
            <a:ext cx="1920240" cy="274320"/>
          </a:xfrm>
          <a:prstGeom prst="rect">
            <a:avLst/>
          </a:prstGeom>
          <a:noFill/>
          <a:ln/>
        </p:spPr>
        <p:txBody>
          <a:bodyPr wrap="square" rtlCol="0" anchor="ctr"/>
          <a:lstStyle/>
          <a:p>
            <a:pPr algn="ctr" indent="0" marL="0">
              <a:buNone/>
            </a:pPr>
            <a:r>
              <a:rPr lang="en-US" sz="1050" b="1" dirty="0">
                <a:solidFill>
                  <a:srgbClr val="C59B27"/>
                </a:solidFill>
                <a:latin typeface="Tajawal" pitchFamily="34" charset="0"/>
                <a:ea typeface="Tajawal" pitchFamily="34" charset="-122"/>
                <a:cs typeface="Tajawal" pitchFamily="34" charset="-120"/>
              </a:rPr>
              <a:t>أسبوعين - شهر</a:t>
            </a:r>
            <a:endParaRPr lang="en-US" sz="1050" dirty="0"/>
          </a:p>
        </p:txBody>
      </p:sp>
      <p:sp>
        <p:nvSpPr>
          <p:cNvPr id="19" name="Text 17"/>
          <p:cNvSpPr/>
          <p:nvPr/>
        </p:nvSpPr>
        <p:spPr>
          <a:xfrm>
            <a:off x="9555480" y="5257800"/>
            <a:ext cx="1920240" cy="914400"/>
          </a:xfrm>
          <a:prstGeom prst="rect">
            <a:avLst/>
          </a:prstGeom>
          <a:noFill/>
          <a:ln/>
        </p:spPr>
        <p:txBody>
          <a:bodyPr wrap="square" rtlCol="0" anchor="ctr"/>
          <a:lstStyle/>
          <a:p>
            <a:pPr algn="ctr" indent="0" marL="0">
              <a:buNone/>
            </a:pPr>
            <a:r>
              <a:rPr lang="en-US" sz="1000" dirty="0">
                <a:solidFill>
                  <a:srgbClr val="1C2D31"/>
                </a:solidFill>
                <a:latin typeface="Tajawal" pitchFamily="34" charset="0"/>
                <a:ea typeface="Tajawal" pitchFamily="34" charset="-122"/>
                <a:cs typeface="Tajawal" pitchFamily="34" charset="-120"/>
              </a:rPr>
              <a:t>تطوير المنصة، دمج الذكاء الاصطناعي، وبناء الفريق.</a:t>
            </a:r>
            <a:endParaRPr lang="en-US" sz="1000" dirty="0"/>
          </a:p>
        </p:txBody>
      </p:sp>
      <p:sp>
        <p:nvSpPr>
          <p:cNvPr id="20" name="Shape 18"/>
          <p:cNvSpPr/>
          <p:nvPr/>
        </p:nvSpPr>
        <p:spPr>
          <a:xfrm>
            <a:off x="7360920" y="3931920"/>
            <a:ext cx="2011680" cy="2377440"/>
          </a:xfrm>
          <a:prstGeom prst="roundRect">
            <a:avLst>
              <a:gd name="adj" fmla="val 3636"/>
            </a:avLst>
          </a:prstGeom>
          <a:solidFill>
            <a:srgbClr val="FFFFFF"/>
          </a:solidFill>
          <a:ln w="12700">
            <a:solidFill>
              <a:srgbClr val="C59B27"/>
            </a:solidFill>
            <a:prstDash val="solid"/>
          </a:ln>
        </p:spPr>
      </p:sp>
      <p:sp>
        <p:nvSpPr>
          <p:cNvPr id="21" name="Shape 19"/>
          <p:cNvSpPr/>
          <p:nvPr/>
        </p:nvSpPr>
        <p:spPr>
          <a:xfrm>
            <a:off x="8092440" y="4069080"/>
            <a:ext cx="548640" cy="548640"/>
          </a:xfrm>
          <a:prstGeom prst="ellipse">
            <a:avLst/>
          </a:prstGeom>
          <a:solidFill>
            <a:srgbClr val="C59B27"/>
          </a:solidFill>
          <a:ln/>
        </p:spPr>
      </p:sp>
      <p:sp>
        <p:nvSpPr>
          <p:cNvPr id="22" name="Text 20"/>
          <p:cNvSpPr/>
          <p:nvPr/>
        </p:nvSpPr>
        <p:spPr>
          <a:xfrm>
            <a:off x="8092440" y="4069080"/>
            <a:ext cx="548640" cy="548640"/>
          </a:xfrm>
          <a:prstGeom prst="rect">
            <a:avLst/>
          </a:prstGeom>
          <a:noFill/>
          <a:ln/>
        </p:spPr>
        <p:txBody>
          <a:bodyPr wrap="square" rtlCol="0" anchor="ctr"/>
          <a:lstStyle/>
          <a:p>
            <a:pPr algn="ctr" indent="0" marL="0">
              <a:buNone/>
            </a:pPr>
            <a:r>
              <a:rPr lang="en-US" sz="1500" b="1" dirty="0">
                <a:solidFill>
                  <a:srgbClr val="1E4D3B"/>
                </a:solidFill>
                <a:latin typeface="Cairo" pitchFamily="34" charset="0"/>
                <a:ea typeface="Cairo" pitchFamily="34" charset="-122"/>
                <a:cs typeface="Cairo" pitchFamily="34" charset="-120"/>
              </a:rPr>
              <a:t>2</a:t>
            </a:r>
            <a:endParaRPr lang="en-US" sz="1500" dirty="0"/>
          </a:p>
        </p:txBody>
      </p:sp>
      <p:sp>
        <p:nvSpPr>
          <p:cNvPr id="23" name="Text 21"/>
          <p:cNvSpPr/>
          <p:nvPr/>
        </p:nvSpPr>
        <p:spPr>
          <a:xfrm>
            <a:off x="7406640" y="4663440"/>
            <a:ext cx="1920240" cy="320040"/>
          </a:xfrm>
          <a:prstGeom prst="rect">
            <a:avLst/>
          </a:prstGeom>
          <a:noFill/>
          <a:ln/>
        </p:spPr>
        <p:txBody>
          <a:bodyPr wrap="square" rtlCol="0" anchor="ctr"/>
          <a:lstStyle/>
          <a:p>
            <a:pPr algn="ctr" indent="0" marL="0">
              <a:buNone/>
            </a:pPr>
            <a:r>
              <a:rPr lang="en-US" sz="1250" b="1" dirty="0">
                <a:solidFill>
                  <a:srgbClr val="1E4D3B"/>
                </a:solidFill>
                <a:latin typeface="Cairo" pitchFamily="34" charset="0"/>
                <a:ea typeface="Cairo" pitchFamily="34" charset="-122"/>
                <a:cs typeface="Cairo" pitchFamily="34" charset="-120"/>
              </a:rPr>
              <a:t>التجريبي</a:t>
            </a:r>
            <a:endParaRPr lang="en-US" sz="1250" dirty="0"/>
          </a:p>
        </p:txBody>
      </p:sp>
      <p:sp>
        <p:nvSpPr>
          <p:cNvPr id="24" name="Text 22"/>
          <p:cNvSpPr/>
          <p:nvPr/>
        </p:nvSpPr>
        <p:spPr>
          <a:xfrm>
            <a:off x="7406640" y="4983480"/>
            <a:ext cx="1920240" cy="274320"/>
          </a:xfrm>
          <a:prstGeom prst="rect">
            <a:avLst/>
          </a:prstGeom>
          <a:noFill/>
          <a:ln/>
        </p:spPr>
        <p:txBody>
          <a:bodyPr wrap="square" rtlCol="0" anchor="ctr"/>
          <a:lstStyle/>
          <a:p>
            <a:pPr algn="ctr" indent="0" marL="0">
              <a:buNone/>
            </a:pPr>
            <a:r>
              <a:rPr lang="en-US" sz="1050" b="1" dirty="0">
                <a:solidFill>
                  <a:srgbClr val="C59B27"/>
                </a:solidFill>
                <a:latin typeface="Tajawal" pitchFamily="34" charset="0"/>
                <a:ea typeface="Tajawal" pitchFamily="34" charset="-122"/>
                <a:cs typeface="Tajawal" pitchFamily="34" charset="-120"/>
              </a:rPr>
              <a:t>شهر (50 طالباً)</a:t>
            </a:r>
            <a:endParaRPr lang="en-US" sz="1050" dirty="0"/>
          </a:p>
        </p:txBody>
      </p:sp>
      <p:sp>
        <p:nvSpPr>
          <p:cNvPr id="25" name="Text 23"/>
          <p:cNvSpPr/>
          <p:nvPr/>
        </p:nvSpPr>
        <p:spPr>
          <a:xfrm>
            <a:off x="7406640" y="5257800"/>
            <a:ext cx="1920240" cy="914400"/>
          </a:xfrm>
          <a:prstGeom prst="rect">
            <a:avLst/>
          </a:prstGeom>
          <a:noFill/>
          <a:ln/>
        </p:spPr>
        <p:txBody>
          <a:bodyPr wrap="square" rtlCol="0" anchor="ctr"/>
          <a:lstStyle/>
          <a:p>
            <a:pPr algn="ctr" indent="0" marL="0">
              <a:buNone/>
            </a:pPr>
            <a:r>
              <a:rPr lang="en-US" sz="1000" dirty="0">
                <a:solidFill>
                  <a:srgbClr val="1C2D31"/>
                </a:solidFill>
                <a:latin typeface="Tajawal" pitchFamily="34" charset="0"/>
                <a:ea typeface="Tajawal" pitchFamily="34" charset="-122"/>
                <a:cs typeface="Tajawal" pitchFamily="34" charset="-120"/>
              </a:rPr>
              <a:t>إطلاق تجريبي قياسي واختبار جودة الأداء.</a:t>
            </a:r>
            <a:endParaRPr lang="en-US" sz="1000" dirty="0"/>
          </a:p>
        </p:txBody>
      </p:sp>
      <p:sp>
        <p:nvSpPr>
          <p:cNvPr id="26" name="Shape 24"/>
          <p:cNvSpPr/>
          <p:nvPr/>
        </p:nvSpPr>
        <p:spPr>
          <a:xfrm>
            <a:off x="5212080" y="3931920"/>
            <a:ext cx="2011680" cy="2377440"/>
          </a:xfrm>
          <a:prstGeom prst="roundRect">
            <a:avLst>
              <a:gd name="adj" fmla="val 3636"/>
            </a:avLst>
          </a:prstGeom>
          <a:solidFill>
            <a:srgbClr val="FFFFFF"/>
          </a:solidFill>
          <a:ln w="12700">
            <a:solidFill>
              <a:srgbClr val="C59B27"/>
            </a:solidFill>
            <a:prstDash val="solid"/>
          </a:ln>
        </p:spPr>
      </p:sp>
      <p:sp>
        <p:nvSpPr>
          <p:cNvPr id="27" name="Shape 25"/>
          <p:cNvSpPr/>
          <p:nvPr/>
        </p:nvSpPr>
        <p:spPr>
          <a:xfrm>
            <a:off x="5943600" y="4069080"/>
            <a:ext cx="548640" cy="548640"/>
          </a:xfrm>
          <a:prstGeom prst="ellipse">
            <a:avLst/>
          </a:prstGeom>
          <a:solidFill>
            <a:srgbClr val="C59B27"/>
          </a:solidFill>
          <a:ln/>
        </p:spPr>
      </p:sp>
      <p:sp>
        <p:nvSpPr>
          <p:cNvPr id="28" name="Text 26"/>
          <p:cNvSpPr/>
          <p:nvPr/>
        </p:nvSpPr>
        <p:spPr>
          <a:xfrm>
            <a:off x="5943600" y="4069080"/>
            <a:ext cx="548640" cy="548640"/>
          </a:xfrm>
          <a:prstGeom prst="rect">
            <a:avLst/>
          </a:prstGeom>
          <a:noFill/>
          <a:ln/>
        </p:spPr>
        <p:txBody>
          <a:bodyPr wrap="square" rtlCol="0" anchor="ctr"/>
          <a:lstStyle/>
          <a:p>
            <a:pPr algn="ctr" indent="0" marL="0">
              <a:buNone/>
            </a:pPr>
            <a:r>
              <a:rPr lang="en-US" sz="1500" b="1" dirty="0">
                <a:solidFill>
                  <a:srgbClr val="1E4D3B"/>
                </a:solidFill>
                <a:latin typeface="Cairo" pitchFamily="34" charset="0"/>
                <a:ea typeface="Cairo" pitchFamily="34" charset="-122"/>
                <a:cs typeface="Cairo" pitchFamily="34" charset="-120"/>
              </a:rPr>
              <a:t>3</a:t>
            </a:r>
            <a:endParaRPr lang="en-US" sz="1500" dirty="0"/>
          </a:p>
        </p:txBody>
      </p:sp>
      <p:sp>
        <p:nvSpPr>
          <p:cNvPr id="29" name="Text 27"/>
          <p:cNvSpPr/>
          <p:nvPr/>
        </p:nvSpPr>
        <p:spPr>
          <a:xfrm>
            <a:off x="5257800" y="4663440"/>
            <a:ext cx="1920240" cy="320040"/>
          </a:xfrm>
          <a:prstGeom prst="rect">
            <a:avLst/>
          </a:prstGeom>
          <a:noFill/>
          <a:ln/>
        </p:spPr>
        <p:txBody>
          <a:bodyPr wrap="square" rtlCol="0" anchor="ctr"/>
          <a:lstStyle/>
          <a:p>
            <a:pPr algn="ctr" indent="0" marL="0">
              <a:buNone/>
            </a:pPr>
            <a:r>
              <a:rPr lang="en-US" sz="1250" b="1" dirty="0">
                <a:solidFill>
                  <a:srgbClr val="1E4D3B"/>
                </a:solidFill>
                <a:latin typeface="Cairo" pitchFamily="34" charset="0"/>
                <a:ea typeface="Cairo" pitchFamily="34" charset="-122"/>
                <a:cs typeface="Cairo" pitchFamily="34" charset="-120"/>
              </a:rPr>
              <a:t>الإطلاق الأوسع</a:t>
            </a:r>
            <a:endParaRPr lang="en-US" sz="1250" dirty="0"/>
          </a:p>
        </p:txBody>
      </p:sp>
      <p:sp>
        <p:nvSpPr>
          <p:cNvPr id="30" name="Text 28"/>
          <p:cNvSpPr/>
          <p:nvPr/>
        </p:nvSpPr>
        <p:spPr>
          <a:xfrm>
            <a:off x="5257800" y="4983480"/>
            <a:ext cx="1920240" cy="274320"/>
          </a:xfrm>
          <a:prstGeom prst="rect">
            <a:avLst/>
          </a:prstGeom>
          <a:noFill/>
          <a:ln/>
        </p:spPr>
        <p:txBody>
          <a:bodyPr wrap="square" rtlCol="0" anchor="ctr"/>
          <a:lstStyle/>
          <a:p>
            <a:pPr algn="ctr" indent="0" marL="0">
              <a:buNone/>
            </a:pPr>
            <a:r>
              <a:rPr lang="en-US" sz="1050" b="1" dirty="0">
                <a:solidFill>
                  <a:srgbClr val="C59B27"/>
                </a:solidFill>
                <a:latin typeface="Tajawal" pitchFamily="34" charset="0"/>
                <a:ea typeface="Tajawal" pitchFamily="34" charset="-122"/>
                <a:cs typeface="Tajawal" pitchFamily="34" charset="-120"/>
              </a:rPr>
              <a:t>شهر (1,000 طالب)</a:t>
            </a:r>
            <a:endParaRPr lang="en-US" sz="1050" dirty="0"/>
          </a:p>
        </p:txBody>
      </p:sp>
      <p:sp>
        <p:nvSpPr>
          <p:cNvPr id="31" name="Text 29"/>
          <p:cNvSpPr/>
          <p:nvPr/>
        </p:nvSpPr>
        <p:spPr>
          <a:xfrm>
            <a:off x="5257800" y="5257800"/>
            <a:ext cx="1920240" cy="914400"/>
          </a:xfrm>
          <a:prstGeom prst="rect">
            <a:avLst/>
          </a:prstGeom>
          <a:noFill/>
          <a:ln/>
        </p:spPr>
        <p:txBody>
          <a:bodyPr wrap="square" rtlCol="0" anchor="ctr"/>
          <a:lstStyle/>
          <a:p>
            <a:pPr algn="ctr" indent="0" marL="0">
              <a:buNone/>
            </a:pPr>
            <a:r>
              <a:rPr lang="en-US" sz="1000" dirty="0">
                <a:solidFill>
                  <a:srgbClr val="1C2D31"/>
                </a:solidFill>
                <a:latin typeface="Tajawal" pitchFamily="34" charset="0"/>
                <a:ea typeface="Tajawal" pitchFamily="34" charset="-122"/>
                <a:cs typeface="Tajawal" pitchFamily="34" charset="-120"/>
              </a:rPr>
              <a:t>كثافة إعلامية وحملات جذب مستهدفة.</a:t>
            </a:r>
            <a:endParaRPr lang="en-US" sz="1000" dirty="0"/>
          </a:p>
        </p:txBody>
      </p:sp>
      <p:sp>
        <p:nvSpPr>
          <p:cNvPr id="32" name="Shape 30"/>
          <p:cNvSpPr/>
          <p:nvPr/>
        </p:nvSpPr>
        <p:spPr>
          <a:xfrm>
            <a:off x="3063240" y="3931920"/>
            <a:ext cx="2011680" cy="2377440"/>
          </a:xfrm>
          <a:prstGeom prst="roundRect">
            <a:avLst>
              <a:gd name="adj" fmla="val 3636"/>
            </a:avLst>
          </a:prstGeom>
          <a:solidFill>
            <a:srgbClr val="FFFFFF"/>
          </a:solidFill>
          <a:ln w="12700">
            <a:solidFill>
              <a:srgbClr val="C59B27"/>
            </a:solidFill>
            <a:prstDash val="solid"/>
          </a:ln>
        </p:spPr>
      </p:sp>
      <p:sp>
        <p:nvSpPr>
          <p:cNvPr id="33" name="Shape 31"/>
          <p:cNvSpPr/>
          <p:nvPr/>
        </p:nvSpPr>
        <p:spPr>
          <a:xfrm>
            <a:off x="3794760" y="4069080"/>
            <a:ext cx="548640" cy="548640"/>
          </a:xfrm>
          <a:prstGeom prst="ellipse">
            <a:avLst/>
          </a:prstGeom>
          <a:solidFill>
            <a:srgbClr val="C59B27"/>
          </a:solidFill>
          <a:ln/>
        </p:spPr>
      </p:sp>
      <p:sp>
        <p:nvSpPr>
          <p:cNvPr id="34" name="Text 32"/>
          <p:cNvSpPr/>
          <p:nvPr/>
        </p:nvSpPr>
        <p:spPr>
          <a:xfrm>
            <a:off x="3794760" y="4069080"/>
            <a:ext cx="548640" cy="548640"/>
          </a:xfrm>
          <a:prstGeom prst="rect">
            <a:avLst/>
          </a:prstGeom>
          <a:noFill/>
          <a:ln/>
        </p:spPr>
        <p:txBody>
          <a:bodyPr wrap="square" rtlCol="0" anchor="ctr"/>
          <a:lstStyle/>
          <a:p>
            <a:pPr algn="ctr" indent="0" marL="0">
              <a:buNone/>
            </a:pPr>
            <a:r>
              <a:rPr lang="en-US" sz="1500" b="1" dirty="0">
                <a:solidFill>
                  <a:srgbClr val="1E4D3B"/>
                </a:solidFill>
                <a:latin typeface="Cairo" pitchFamily="34" charset="0"/>
                <a:ea typeface="Cairo" pitchFamily="34" charset="-122"/>
                <a:cs typeface="Cairo" pitchFamily="34" charset="-120"/>
              </a:rPr>
              <a:t>4</a:t>
            </a:r>
            <a:endParaRPr lang="en-US" sz="1500" dirty="0"/>
          </a:p>
        </p:txBody>
      </p:sp>
      <p:sp>
        <p:nvSpPr>
          <p:cNvPr id="35" name="Text 33"/>
          <p:cNvSpPr/>
          <p:nvPr/>
        </p:nvSpPr>
        <p:spPr>
          <a:xfrm>
            <a:off x="3108960" y="4663440"/>
            <a:ext cx="1920240" cy="320040"/>
          </a:xfrm>
          <a:prstGeom prst="rect">
            <a:avLst/>
          </a:prstGeom>
          <a:noFill/>
          <a:ln/>
        </p:spPr>
        <p:txBody>
          <a:bodyPr wrap="square" rtlCol="0" anchor="ctr"/>
          <a:lstStyle/>
          <a:p>
            <a:pPr algn="ctr" indent="0" marL="0">
              <a:buNone/>
            </a:pPr>
            <a:r>
              <a:rPr lang="en-US" sz="1250" b="1" dirty="0">
                <a:solidFill>
                  <a:srgbClr val="1E4D3B"/>
                </a:solidFill>
                <a:latin typeface="Cairo" pitchFamily="34" charset="0"/>
                <a:ea typeface="Cairo" pitchFamily="34" charset="-122"/>
                <a:cs typeface="Cairo" pitchFamily="34" charset="-120"/>
              </a:rPr>
              <a:t>التوسع</a:t>
            </a:r>
            <a:endParaRPr lang="en-US" sz="1250" dirty="0"/>
          </a:p>
        </p:txBody>
      </p:sp>
      <p:sp>
        <p:nvSpPr>
          <p:cNvPr id="36" name="Text 34"/>
          <p:cNvSpPr/>
          <p:nvPr/>
        </p:nvSpPr>
        <p:spPr>
          <a:xfrm>
            <a:off x="3108960" y="4983480"/>
            <a:ext cx="1920240" cy="274320"/>
          </a:xfrm>
          <a:prstGeom prst="rect">
            <a:avLst/>
          </a:prstGeom>
          <a:noFill/>
          <a:ln/>
        </p:spPr>
        <p:txBody>
          <a:bodyPr wrap="square" rtlCol="0" anchor="ctr"/>
          <a:lstStyle/>
          <a:p>
            <a:pPr algn="ctr" indent="0" marL="0">
              <a:buNone/>
            </a:pPr>
            <a:r>
              <a:rPr lang="en-US" sz="1050" b="1" dirty="0">
                <a:solidFill>
                  <a:srgbClr val="C59B27"/>
                </a:solidFill>
                <a:latin typeface="Tajawal" pitchFamily="34" charset="0"/>
                <a:ea typeface="Tajawal" pitchFamily="34" charset="-122"/>
                <a:cs typeface="Tajawal" pitchFamily="34" charset="-120"/>
              </a:rPr>
              <a:t>شهرين (5,000 طالب)</a:t>
            </a:r>
            <a:endParaRPr lang="en-US" sz="1050" dirty="0"/>
          </a:p>
        </p:txBody>
      </p:sp>
      <p:sp>
        <p:nvSpPr>
          <p:cNvPr id="37" name="Text 35"/>
          <p:cNvSpPr/>
          <p:nvPr/>
        </p:nvSpPr>
        <p:spPr>
          <a:xfrm>
            <a:off x="3108960" y="5257800"/>
            <a:ext cx="1920240" cy="914400"/>
          </a:xfrm>
          <a:prstGeom prst="rect">
            <a:avLst/>
          </a:prstGeom>
          <a:noFill/>
          <a:ln/>
        </p:spPr>
        <p:txBody>
          <a:bodyPr wrap="square" rtlCol="0" anchor="ctr"/>
          <a:lstStyle/>
          <a:p>
            <a:pPr algn="ctr" indent="0" marL="0">
              <a:buNone/>
            </a:pPr>
            <a:r>
              <a:rPr lang="en-US" sz="1000" dirty="0">
                <a:solidFill>
                  <a:srgbClr val="1C2D31"/>
                </a:solidFill>
                <a:latin typeface="Tajawal" pitchFamily="34" charset="0"/>
                <a:ea typeface="Tajawal" pitchFamily="34" charset="-122"/>
                <a:cs typeface="Tajawal" pitchFamily="34" charset="-120"/>
              </a:rPr>
              <a:t>توسيع القاعدة الجماهيرية والمسارات.</a:t>
            </a:r>
            <a:endParaRPr lang="en-US" sz="1000" dirty="0"/>
          </a:p>
        </p:txBody>
      </p:sp>
      <p:sp>
        <p:nvSpPr>
          <p:cNvPr id="38" name="Shape 36"/>
          <p:cNvSpPr/>
          <p:nvPr/>
        </p:nvSpPr>
        <p:spPr>
          <a:xfrm>
            <a:off x="914400" y="3931920"/>
            <a:ext cx="2011680" cy="2377440"/>
          </a:xfrm>
          <a:prstGeom prst="roundRect">
            <a:avLst>
              <a:gd name="adj" fmla="val 3636"/>
            </a:avLst>
          </a:prstGeom>
          <a:solidFill>
            <a:srgbClr val="FFFFFF"/>
          </a:solidFill>
          <a:ln w="12700">
            <a:solidFill>
              <a:srgbClr val="C59B27"/>
            </a:solidFill>
            <a:prstDash val="solid"/>
          </a:ln>
        </p:spPr>
      </p:sp>
      <p:sp>
        <p:nvSpPr>
          <p:cNvPr id="39" name="Shape 37"/>
          <p:cNvSpPr/>
          <p:nvPr/>
        </p:nvSpPr>
        <p:spPr>
          <a:xfrm>
            <a:off x="1645920" y="4069080"/>
            <a:ext cx="548640" cy="548640"/>
          </a:xfrm>
          <a:prstGeom prst="ellipse">
            <a:avLst/>
          </a:prstGeom>
          <a:solidFill>
            <a:srgbClr val="C59B27"/>
          </a:solidFill>
          <a:ln/>
        </p:spPr>
      </p:sp>
      <p:sp>
        <p:nvSpPr>
          <p:cNvPr id="40" name="Text 38"/>
          <p:cNvSpPr/>
          <p:nvPr/>
        </p:nvSpPr>
        <p:spPr>
          <a:xfrm>
            <a:off x="1645920" y="4069080"/>
            <a:ext cx="548640" cy="548640"/>
          </a:xfrm>
          <a:prstGeom prst="rect">
            <a:avLst/>
          </a:prstGeom>
          <a:noFill/>
          <a:ln/>
        </p:spPr>
        <p:txBody>
          <a:bodyPr wrap="square" rtlCol="0" anchor="ctr"/>
          <a:lstStyle/>
          <a:p>
            <a:pPr algn="ctr" indent="0" marL="0">
              <a:buNone/>
            </a:pPr>
            <a:r>
              <a:rPr lang="en-US" sz="1500" b="1" dirty="0">
                <a:solidFill>
                  <a:srgbClr val="1E4D3B"/>
                </a:solidFill>
                <a:latin typeface="Cairo" pitchFamily="34" charset="0"/>
                <a:ea typeface="Cairo" pitchFamily="34" charset="-122"/>
                <a:cs typeface="Cairo" pitchFamily="34" charset="-120"/>
              </a:rPr>
              <a:t>5</a:t>
            </a:r>
            <a:endParaRPr lang="en-US" sz="1500" dirty="0"/>
          </a:p>
        </p:txBody>
      </p:sp>
      <p:sp>
        <p:nvSpPr>
          <p:cNvPr id="41" name="Text 39"/>
          <p:cNvSpPr/>
          <p:nvPr/>
        </p:nvSpPr>
        <p:spPr>
          <a:xfrm>
            <a:off x="960120" y="4663440"/>
            <a:ext cx="1920240" cy="320040"/>
          </a:xfrm>
          <a:prstGeom prst="rect">
            <a:avLst/>
          </a:prstGeom>
          <a:noFill/>
          <a:ln/>
        </p:spPr>
        <p:txBody>
          <a:bodyPr wrap="square" rtlCol="0" anchor="ctr"/>
          <a:lstStyle/>
          <a:p>
            <a:pPr algn="ctr" indent="0" marL="0">
              <a:buNone/>
            </a:pPr>
            <a:r>
              <a:rPr lang="en-US" sz="1250" b="1" dirty="0">
                <a:solidFill>
                  <a:srgbClr val="1E4D3B"/>
                </a:solidFill>
                <a:latin typeface="Cairo" pitchFamily="34" charset="0"/>
                <a:ea typeface="Cairo" pitchFamily="34" charset="-122"/>
                <a:cs typeface="Cairo" pitchFamily="34" charset="-120"/>
              </a:rPr>
              <a:t>التطوير المستمر</a:t>
            </a:r>
            <a:endParaRPr lang="en-US" sz="1250" dirty="0"/>
          </a:p>
        </p:txBody>
      </p:sp>
      <p:sp>
        <p:nvSpPr>
          <p:cNvPr id="42" name="Text 40"/>
          <p:cNvSpPr/>
          <p:nvPr/>
        </p:nvSpPr>
        <p:spPr>
          <a:xfrm>
            <a:off x="960120" y="4983480"/>
            <a:ext cx="1920240" cy="274320"/>
          </a:xfrm>
          <a:prstGeom prst="rect">
            <a:avLst/>
          </a:prstGeom>
          <a:noFill/>
          <a:ln/>
        </p:spPr>
        <p:txBody>
          <a:bodyPr wrap="square" rtlCol="0" anchor="ctr"/>
          <a:lstStyle/>
          <a:p>
            <a:pPr algn="ctr" indent="0" marL="0">
              <a:buNone/>
            </a:pPr>
            <a:r>
              <a:rPr lang="en-US" sz="1050" b="1" dirty="0">
                <a:solidFill>
                  <a:srgbClr val="C59B27"/>
                </a:solidFill>
                <a:latin typeface="Tajawal" pitchFamily="34" charset="0"/>
                <a:ea typeface="Tajawal" pitchFamily="34" charset="-122"/>
                <a:cs typeface="Tajawal" pitchFamily="34" charset="-120"/>
              </a:rPr>
              <a:t>مرحلة مستمرة</a:t>
            </a:r>
            <a:endParaRPr lang="en-US" sz="1050" dirty="0"/>
          </a:p>
        </p:txBody>
      </p:sp>
      <p:sp>
        <p:nvSpPr>
          <p:cNvPr id="43" name="Text 41"/>
          <p:cNvSpPr/>
          <p:nvPr/>
        </p:nvSpPr>
        <p:spPr>
          <a:xfrm>
            <a:off x="960120" y="5257800"/>
            <a:ext cx="1920240" cy="914400"/>
          </a:xfrm>
          <a:prstGeom prst="rect">
            <a:avLst/>
          </a:prstGeom>
          <a:noFill/>
          <a:ln/>
        </p:spPr>
        <p:txBody>
          <a:bodyPr wrap="square" rtlCol="0" anchor="ctr"/>
          <a:lstStyle/>
          <a:p>
            <a:pPr algn="ctr" indent="0" marL="0">
              <a:buNone/>
            </a:pPr>
            <a:r>
              <a:rPr lang="en-US" sz="1000" dirty="0">
                <a:solidFill>
                  <a:srgbClr val="1C2D31"/>
                </a:solidFill>
                <a:latin typeface="Tajawal" pitchFamily="34" charset="0"/>
                <a:ea typeface="Tajawal" pitchFamily="34" charset="-122"/>
                <a:cs typeface="Tajawal" pitchFamily="34" charset="-120"/>
              </a:rPr>
              <a:t>إضافة مجالس حفظ السنة والسيرة النبوية.</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4D3B"/>
          </a:solidFill>
          <a:ln/>
        </p:spPr>
      </p:sp>
      <p:sp>
        <p:nvSpPr>
          <p:cNvPr id="3" name="Shape 1"/>
          <p:cNvSpPr/>
          <p:nvPr/>
        </p:nvSpPr>
        <p:spPr>
          <a:xfrm>
            <a:off x="0" y="978408"/>
            <a:ext cx="12188952" cy="45720"/>
          </a:xfrm>
          <a:prstGeom prst="rect">
            <a:avLst/>
          </a:prstGeom>
          <a:solidFill>
            <a:srgbClr val="C59B27"/>
          </a:solidFill>
          <a:ln/>
        </p:spPr>
      </p:sp>
      <p:sp>
        <p:nvSpPr>
          <p:cNvPr id="4" name="Text 2"/>
          <p:cNvSpPr/>
          <p:nvPr/>
        </p:nvSpPr>
        <p:spPr>
          <a:xfrm>
            <a:off x="457200" y="137160"/>
            <a:ext cx="11274552" cy="457200"/>
          </a:xfrm>
          <a:prstGeom prst="rect">
            <a:avLst/>
          </a:prstGeom>
          <a:noFill/>
          <a:ln/>
        </p:spPr>
        <p:txBody>
          <a:bodyPr wrap="square" rtlCol="0" anchor="ctr"/>
          <a:lstStyle/>
          <a:p>
            <a:pPr algn="r" indent="0" marL="0">
              <a:buNone/>
            </a:pPr>
            <a:r>
              <a:rPr lang="en-US" sz="2200" b="1" dirty="0">
                <a:solidFill>
                  <a:srgbClr val="C59B27"/>
                </a:solidFill>
                <a:latin typeface="Cairo" pitchFamily="34" charset="0"/>
                <a:ea typeface="Cairo" pitchFamily="34" charset="-122"/>
                <a:cs typeface="Cairo" pitchFamily="34" charset="-120"/>
              </a:rPr>
              <a:t>التحديات وطرق التعامل معها — خطة الاستدامة</a:t>
            </a:r>
            <a:endParaRPr lang="en-US" sz="2200" dirty="0"/>
          </a:p>
        </p:txBody>
      </p:sp>
      <p:sp>
        <p:nvSpPr>
          <p:cNvPr id="5" name="Text 3"/>
          <p:cNvSpPr/>
          <p:nvPr/>
        </p:nvSpPr>
        <p:spPr>
          <a:xfrm>
            <a:off x="457200" y="566928"/>
            <a:ext cx="11274552" cy="320040"/>
          </a:xfrm>
          <a:prstGeom prst="rect">
            <a:avLst/>
          </a:prstGeom>
          <a:noFill/>
          <a:ln/>
        </p:spPr>
        <p:txBody>
          <a:bodyPr wrap="square" rtlCol="0" anchor="ctr"/>
          <a:lstStyle/>
          <a:p>
            <a:pPr algn="r" indent="0" marL="0">
              <a:buNone/>
            </a:pPr>
            <a:r>
              <a:rPr lang="en-US" sz="1300" dirty="0">
                <a:solidFill>
                  <a:srgbClr val="E2E8F0"/>
                </a:solidFill>
                <a:latin typeface="Tajawal" pitchFamily="34" charset="0"/>
                <a:ea typeface="Tajawal" pitchFamily="34" charset="-122"/>
                <a:cs typeface="Tajawal" pitchFamily="34" charset="-120"/>
              </a:rPr>
              <a:t>حلول منهجية وعملية لمواجهة تحديات التشغيل والمنافسة</a:t>
            </a:r>
            <a:endParaRPr lang="en-US" sz="1300" dirty="0"/>
          </a:p>
        </p:txBody>
      </p:sp>
      <p:sp>
        <p:nvSpPr>
          <p:cNvPr id="6" name="Shape 4"/>
          <p:cNvSpPr/>
          <p:nvPr/>
        </p:nvSpPr>
        <p:spPr>
          <a:xfrm>
            <a:off x="548640" y="1188720"/>
            <a:ext cx="5303520" cy="1600200"/>
          </a:xfrm>
          <a:prstGeom prst="roundRect">
            <a:avLst>
              <a:gd name="adj" fmla="val 5714"/>
            </a:avLst>
          </a:prstGeom>
          <a:solidFill>
            <a:srgbClr val="FFFFFF"/>
          </a:solidFill>
          <a:ln w="19050">
            <a:solidFill>
              <a:srgbClr val="1E4D3B"/>
            </a:solidFill>
            <a:prstDash val="solid"/>
          </a:ln>
          <a:effectLst>
            <a:outerShdw sx="100000" sy="100000" kx="0" ky="0" algn="bl" rotWithShape="0" blurRad="50800" dist="25400" dir="16200000">
              <a:srgbClr val="000000">
                <a:alpha val="5000"/>
              </a:srgbClr>
            </a:outerShdw>
          </a:effectLst>
        </p:spPr>
      </p:sp>
      <p:sp>
        <p:nvSpPr>
          <p:cNvPr id="7" name="Text 5"/>
          <p:cNvSpPr/>
          <p:nvPr/>
        </p:nvSpPr>
        <p:spPr>
          <a:xfrm>
            <a:off x="731520" y="1325880"/>
            <a:ext cx="4937760" cy="320040"/>
          </a:xfrm>
          <a:prstGeom prst="rect">
            <a:avLst/>
          </a:prstGeom>
          <a:noFill/>
          <a:ln/>
        </p:spPr>
        <p:txBody>
          <a:bodyPr wrap="square" rtlCol="0" anchor="ctr"/>
          <a:lstStyle/>
          <a:p>
            <a:pPr algn="r" indent="0" marL="0">
              <a:buNone/>
            </a:pPr>
            <a:r>
              <a:rPr lang="en-US" sz="1350" b="1" dirty="0">
                <a:solidFill>
                  <a:srgbClr val="1E4D3B"/>
                </a:solidFill>
                <a:latin typeface="Cairo" pitchFamily="34" charset="0"/>
                <a:ea typeface="Cairo" pitchFamily="34" charset="-122"/>
                <a:cs typeface="Cairo" pitchFamily="34" charset="-120"/>
              </a:rPr>
              <a:t>🛡️ الحل الإجرائي</a:t>
            </a:r>
            <a:endParaRPr lang="en-US" sz="1350" dirty="0"/>
          </a:p>
        </p:txBody>
      </p:sp>
      <p:sp>
        <p:nvSpPr>
          <p:cNvPr id="8" name="Text 6"/>
          <p:cNvSpPr/>
          <p:nvPr/>
        </p:nvSpPr>
        <p:spPr>
          <a:xfrm>
            <a:off x="731520" y="1691640"/>
            <a:ext cx="4937760" cy="96012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التدريب المنهجي الدوري، التأهيل المستمر، توفير الاستقرار المالي والمكافآت المجزية لإبقاء الكفاءات.</a:t>
            </a:r>
            <a:endParaRPr lang="en-US" sz="1200" dirty="0"/>
          </a:p>
        </p:txBody>
      </p:sp>
      <p:sp>
        <p:nvSpPr>
          <p:cNvPr id="9" name="Shape 7"/>
          <p:cNvSpPr/>
          <p:nvPr/>
        </p:nvSpPr>
        <p:spPr>
          <a:xfrm>
            <a:off x="5907024" y="1737360"/>
            <a:ext cx="365760" cy="502920"/>
          </a:xfrm>
          <a:prstGeom prst="roundRect">
            <a:avLst>
              <a:gd name="adj" fmla="val 12500"/>
            </a:avLst>
          </a:prstGeom>
          <a:solidFill>
            <a:srgbClr val="C59B27"/>
          </a:solidFill>
          <a:ln/>
        </p:spPr>
      </p:sp>
      <p:sp>
        <p:nvSpPr>
          <p:cNvPr id="10" name="Text 8"/>
          <p:cNvSpPr/>
          <p:nvPr/>
        </p:nvSpPr>
        <p:spPr>
          <a:xfrm>
            <a:off x="5907024" y="1737360"/>
            <a:ext cx="365760" cy="502920"/>
          </a:xfrm>
          <a:prstGeom prst="rect">
            <a:avLst/>
          </a:prstGeom>
          <a:noFill/>
          <a:ln/>
        </p:spPr>
        <p:txBody>
          <a:bodyPr wrap="square" rtlCol="0" anchor="ctr"/>
          <a:lstStyle/>
          <a:p>
            <a:pPr algn="ctr" indent="0" marL="0">
              <a:buNone/>
            </a:pPr>
            <a:r>
              <a:rPr lang="en-US" sz="1400" b="1" dirty="0">
                <a:solidFill>
                  <a:srgbClr val="1E4D3B"/>
                </a:solidFill>
              </a:rPr>
              <a:t>➔</a:t>
            </a:r>
            <a:endParaRPr lang="en-US" sz="1400" dirty="0"/>
          </a:p>
        </p:txBody>
      </p:sp>
      <p:sp>
        <p:nvSpPr>
          <p:cNvPr id="11" name="Shape 9"/>
          <p:cNvSpPr/>
          <p:nvPr/>
        </p:nvSpPr>
        <p:spPr>
          <a:xfrm>
            <a:off x="6336792" y="1188720"/>
            <a:ext cx="5303520" cy="1600200"/>
          </a:xfrm>
          <a:prstGeom prst="roundRect">
            <a:avLst>
              <a:gd name="adj" fmla="val 5714"/>
            </a:avLst>
          </a:prstGeom>
          <a:solidFill>
            <a:srgbClr val="FFFDF5"/>
          </a:solidFill>
          <a:ln w="19050">
            <a:solidFill>
              <a:srgbClr val="C59B27"/>
            </a:solidFill>
            <a:prstDash val="solid"/>
          </a:ln>
          <a:effectLst>
            <a:outerShdw sx="100000" sy="100000" kx="0" ky="0" algn="bl" rotWithShape="0" blurRad="50800" dist="25400" dir="16200000">
              <a:srgbClr val="000000">
                <a:alpha val="5000"/>
              </a:srgbClr>
            </a:outerShdw>
          </a:effectLst>
        </p:spPr>
      </p:sp>
      <p:sp>
        <p:nvSpPr>
          <p:cNvPr id="12" name="Text 10"/>
          <p:cNvSpPr/>
          <p:nvPr/>
        </p:nvSpPr>
        <p:spPr>
          <a:xfrm>
            <a:off x="6519672" y="1325880"/>
            <a:ext cx="4937760" cy="320040"/>
          </a:xfrm>
          <a:prstGeom prst="rect">
            <a:avLst/>
          </a:prstGeom>
          <a:noFill/>
          <a:ln/>
        </p:spPr>
        <p:txBody>
          <a:bodyPr wrap="square" rtlCol="0" anchor="ctr"/>
          <a:lstStyle/>
          <a:p>
            <a:pPr algn="r" indent="0" marL="0">
              <a:buNone/>
            </a:pPr>
            <a:r>
              <a:rPr lang="en-US" sz="1350" b="1" dirty="0">
                <a:solidFill>
                  <a:srgbClr val="C59B27"/>
                </a:solidFill>
                <a:latin typeface="Cairo" pitchFamily="34" charset="0"/>
                <a:ea typeface="Cairo" pitchFamily="34" charset="-122"/>
                <a:cs typeface="Cairo" pitchFamily="34" charset="-120"/>
              </a:rPr>
              <a:t>⚠️ التحدي 1: التزام المعلمين وجودة الأداء</a:t>
            </a:r>
            <a:endParaRPr lang="en-US" sz="1350" dirty="0"/>
          </a:p>
        </p:txBody>
      </p:sp>
      <p:sp>
        <p:nvSpPr>
          <p:cNvPr id="13" name="Text 11"/>
          <p:cNvSpPr/>
          <p:nvPr/>
        </p:nvSpPr>
        <p:spPr>
          <a:xfrm>
            <a:off x="6519672" y="1691640"/>
            <a:ext cx="4937760" cy="96012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صعوبة ضبط أداء وتفرغ المعلمين والالتزام بالخطة التربوية المحددة.</a:t>
            </a:r>
            <a:endParaRPr lang="en-US" sz="1200" dirty="0"/>
          </a:p>
        </p:txBody>
      </p:sp>
      <p:sp>
        <p:nvSpPr>
          <p:cNvPr id="14" name="Shape 12"/>
          <p:cNvSpPr/>
          <p:nvPr/>
        </p:nvSpPr>
        <p:spPr>
          <a:xfrm>
            <a:off x="548640" y="2971800"/>
            <a:ext cx="5303520" cy="1600200"/>
          </a:xfrm>
          <a:prstGeom prst="roundRect">
            <a:avLst>
              <a:gd name="adj" fmla="val 5714"/>
            </a:avLst>
          </a:prstGeom>
          <a:solidFill>
            <a:srgbClr val="FFFFFF"/>
          </a:solidFill>
          <a:ln w="19050">
            <a:solidFill>
              <a:srgbClr val="1E4D3B"/>
            </a:solidFill>
            <a:prstDash val="solid"/>
          </a:ln>
          <a:effectLst>
            <a:outerShdw sx="100000" sy="100000" kx="0" ky="0" algn="bl" rotWithShape="0" blurRad="50800" dist="25400" dir="16200000">
              <a:srgbClr val="000000">
                <a:alpha val="5000"/>
              </a:srgbClr>
            </a:outerShdw>
          </a:effectLst>
        </p:spPr>
      </p:sp>
      <p:sp>
        <p:nvSpPr>
          <p:cNvPr id="15" name="Text 13"/>
          <p:cNvSpPr/>
          <p:nvPr/>
        </p:nvSpPr>
        <p:spPr>
          <a:xfrm>
            <a:off x="731520" y="3108960"/>
            <a:ext cx="4937760" cy="320040"/>
          </a:xfrm>
          <a:prstGeom prst="rect">
            <a:avLst/>
          </a:prstGeom>
          <a:noFill/>
          <a:ln/>
        </p:spPr>
        <p:txBody>
          <a:bodyPr wrap="square" rtlCol="0" anchor="ctr"/>
          <a:lstStyle/>
          <a:p>
            <a:pPr algn="r" indent="0" marL="0">
              <a:buNone/>
            </a:pPr>
            <a:r>
              <a:rPr lang="en-US" sz="1350" b="1" dirty="0">
                <a:solidFill>
                  <a:srgbClr val="1E4D3B"/>
                </a:solidFill>
                <a:latin typeface="Cairo" pitchFamily="34" charset="0"/>
                <a:ea typeface="Cairo" pitchFamily="34" charset="-122"/>
                <a:cs typeface="Cairo" pitchFamily="34" charset="-120"/>
              </a:rPr>
              <a:t>🛡️ الحل الإجرائي</a:t>
            </a:r>
            <a:endParaRPr lang="en-US" sz="1350" dirty="0"/>
          </a:p>
        </p:txBody>
      </p:sp>
      <p:sp>
        <p:nvSpPr>
          <p:cNvPr id="16" name="Text 14"/>
          <p:cNvSpPr/>
          <p:nvPr/>
        </p:nvSpPr>
        <p:spPr>
          <a:xfrm>
            <a:off x="731520" y="3474720"/>
            <a:ext cx="4937760" cy="96012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صناعة إعلام بصري وموشن جرافيك مبتكر وفيديوهات ذكاء اصطناعي تتناسب مع تطلعات الشباب لمزاحمة الباطل.</a:t>
            </a:r>
            <a:endParaRPr lang="en-US" sz="1200" dirty="0"/>
          </a:p>
        </p:txBody>
      </p:sp>
      <p:sp>
        <p:nvSpPr>
          <p:cNvPr id="17" name="Shape 15"/>
          <p:cNvSpPr/>
          <p:nvPr/>
        </p:nvSpPr>
        <p:spPr>
          <a:xfrm>
            <a:off x="5907024" y="3520440"/>
            <a:ext cx="365760" cy="502920"/>
          </a:xfrm>
          <a:prstGeom prst="roundRect">
            <a:avLst>
              <a:gd name="adj" fmla="val 12500"/>
            </a:avLst>
          </a:prstGeom>
          <a:solidFill>
            <a:srgbClr val="C59B27"/>
          </a:solidFill>
          <a:ln/>
        </p:spPr>
      </p:sp>
      <p:sp>
        <p:nvSpPr>
          <p:cNvPr id="18" name="Text 16"/>
          <p:cNvSpPr/>
          <p:nvPr/>
        </p:nvSpPr>
        <p:spPr>
          <a:xfrm>
            <a:off x="5907024" y="3520440"/>
            <a:ext cx="365760" cy="502920"/>
          </a:xfrm>
          <a:prstGeom prst="rect">
            <a:avLst/>
          </a:prstGeom>
          <a:noFill/>
          <a:ln/>
        </p:spPr>
        <p:txBody>
          <a:bodyPr wrap="square" rtlCol="0" anchor="ctr"/>
          <a:lstStyle/>
          <a:p>
            <a:pPr algn="ctr" indent="0" marL="0">
              <a:buNone/>
            </a:pPr>
            <a:r>
              <a:rPr lang="en-US" sz="1400" b="1" dirty="0">
                <a:solidFill>
                  <a:srgbClr val="1E4D3B"/>
                </a:solidFill>
              </a:rPr>
              <a:t>➔</a:t>
            </a:r>
            <a:endParaRPr lang="en-US" sz="1400" dirty="0"/>
          </a:p>
        </p:txBody>
      </p:sp>
      <p:sp>
        <p:nvSpPr>
          <p:cNvPr id="19" name="Shape 17"/>
          <p:cNvSpPr/>
          <p:nvPr/>
        </p:nvSpPr>
        <p:spPr>
          <a:xfrm>
            <a:off x="6336792" y="2971800"/>
            <a:ext cx="5303520" cy="1600200"/>
          </a:xfrm>
          <a:prstGeom prst="roundRect">
            <a:avLst>
              <a:gd name="adj" fmla="val 5714"/>
            </a:avLst>
          </a:prstGeom>
          <a:solidFill>
            <a:srgbClr val="FFFDF5"/>
          </a:solidFill>
          <a:ln w="19050">
            <a:solidFill>
              <a:srgbClr val="C59B27"/>
            </a:solidFill>
            <a:prstDash val="solid"/>
          </a:ln>
          <a:effectLst>
            <a:outerShdw sx="100000" sy="100000" kx="0" ky="0" algn="bl" rotWithShape="0" blurRad="50800" dist="25400" dir="16200000">
              <a:srgbClr val="000000">
                <a:alpha val="5000"/>
              </a:srgbClr>
            </a:outerShdw>
          </a:effectLst>
        </p:spPr>
      </p:sp>
      <p:sp>
        <p:nvSpPr>
          <p:cNvPr id="20" name="Text 18"/>
          <p:cNvSpPr/>
          <p:nvPr/>
        </p:nvSpPr>
        <p:spPr>
          <a:xfrm>
            <a:off x="6519672" y="3108960"/>
            <a:ext cx="4937760" cy="320040"/>
          </a:xfrm>
          <a:prstGeom prst="rect">
            <a:avLst/>
          </a:prstGeom>
          <a:noFill/>
          <a:ln/>
        </p:spPr>
        <p:txBody>
          <a:bodyPr wrap="square" rtlCol="0" anchor="ctr"/>
          <a:lstStyle/>
          <a:p>
            <a:pPr algn="r" indent="0" marL="0">
              <a:buNone/>
            </a:pPr>
            <a:r>
              <a:rPr lang="en-US" sz="1350" b="1" dirty="0">
                <a:solidFill>
                  <a:srgbClr val="C59B27"/>
                </a:solidFill>
                <a:latin typeface="Cairo" pitchFamily="34" charset="0"/>
                <a:ea typeface="Cairo" pitchFamily="34" charset="-122"/>
                <a:cs typeface="Cairo" pitchFamily="34" charset="-120"/>
              </a:rPr>
              <a:t>⚠️ التحدي 2: منافسة المنصات والتشتت</a:t>
            </a:r>
            <a:endParaRPr lang="en-US" sz="1350" dirty="0"/>
          </a:p>
        </p:txBody>
      </p:sp>
      <p:sp>
        <p:nvSpPr>
          <p:cNvPr id="21" name="Text 19"/>
          <p:cNvSpPr/>
          <p:nvPr/>
        </p:nvSpPr>
        <p:spPr>
          <a:xfrm>
            <a:off x="6519672" y="3474720"/>
            <a:ext cx="4937760" cy="96012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كثرة المشتتات وسطحية المحتوى الرقمي المتداول بين الجيل الصاعد.</a:t>
            </a:r>
            <a:endParaRPr lang="en-US" sz="1200" dirty="0"/>
          </a:p>
        </p:txBody>
      </p:sp>
      <p:sp>
        <p:nvSpPr>
          <p:cNvPr id="22" name="Shape 20"/>
          <p:cNvSpPr/>
          <p:nvPr/>
        </p:nvSpPr>
        <p:spPr>
          <a:xfrm>
            <a:off x="548640" y="4754880"/>
            <a:ext cx="5303520" cy="1600200"/>
          </a:xfrm>
          <a:prstGeom prst="roundRect">
            <a:avLst>
              <a:gd name="adj" fmla="val 5714"/>
            </a:avLst>
          </a:prstGeom>
          <a:solidFill>
            <a:srgbClr val="FFFFFF"/>
          </a:solidFill>
          <a:ln w="19050">
            <a:solidFill>
              <a:srgbClr val="1E4D3B"/>
            </a:solidFill>
            <a:prstDash val="solid"/>
          </a:ln>
          <a:effectLst>
            <a:outerShdw sx="100000" sy="100000" kx="0" ky="0" algn="bl" rotWithShape="0" blurRad="50800" dist="25400" dir="16200000">
              <a:srgbClr val="000000">
                <a:alpha val="5000"/>
              </a:srgbClr>
            </a:outerShdw>
          </a:effectLst>
        </p:spPr>
      </p:sp>
      <p:sp>
        <p:nvSpPr>
          <p:cNvPr id="23" name="Text 21"/>
          <p:cNvSpPr/>
          <p:nvPr/>
        </p:nvSpPr>
        <p:spPr>
          <a:xfrm>
            <a:off x="731520" y="4892040"/>
            <a:ext cx="4937760" cy="320040"/>
          </a:xfrm>
          <a:prstGeom prst="rect">
            <a:avLst/>
          </a:prstGeom>
          <a:noFill/>
          <a:ln/>
        </p:spPr>
        <p:txBody>
          <a:bodyPr wrap="square" rtlCol="0" anchor="ctr"/>
          <a:lstStyle/>
          <a:p>
            <a:pPr algn="r" indent="0" marL="0">
              <a:buNone/>
            </a:pPr>
            <a:r>
              <a:rPr lang="en-US" sz="1350" b="1" dirty="0">
                <a:solidFill>
                  <a:srgbClr val="1E4D3B"/>
                </a:solidFill>
                <a:latin typeface="Cairo" pitchFamily="34" charset="0"/>
                <a:ea typeface="Cairo" pitchFamily="34" charset="-122"/>
                <a:cs typeface="Cairo" pitchFamily="34" charset="-120"/>
              </a:rPr>
              <a:t>🛡️ الحل الإجرائي</a:t>
            </a:r>
            <a:endParaRPr lang="en-US" sz="1350" dirty="0"/>
          </a:p>
        </p:txBody>
      </p:sp>
      <p:sp>
        <p:nvSpPr>
          <p:cNvPr id="24" name="Text 22"/>
          <p:cNvSpPr/>
          <p:nvPr/>
        </p:nvSpPr>
        <p:spPr>
          <a:xfrm>
            <a:off x="731520" y="5257800"/>
            <a:ext cx="4937760" cy="96012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تحصيل رسوم ميسرة تناسب مقدرة الطلاب لتغطية الكلفة، مع منح مجانية واستقطاب ممولين وداعمين.</a:t>
            </a:r>
            <a:endParaRPr lang="en-US" sz="1200" dirty="0"/>
          </a:p>
        </p:txBody>
      </p:sp>
      <p:sp>
        <p:nvSpPr>
          <p:cNvPr id="25" name="Shape 23"/>
          <p:cNvSpPr/>
          <p:nvPr/>
        </p:nvSpPr>
        <p:spPr>
          <a:xfrm>
            <a:off x="5907024" y="5303520"/>
            <a:ext cx="365760" cy="502920"/>
          </a:xfrm>
          <a:prstGeom prst="roundRect">
            <a:avLst>
              <a:gd name="adj" fmla="val 12500"/>
            </a:avLst>
          </a:prstGeom>
          <a:solidFill>
            <a:srgbClr val="C59B27"/>
          </a:solidFill>
          <a:ln/>
        </p:spPr>
      </p:sp>
      <p:sp>
        <p:nvSpPr>
          <p:cNvPr id="26" name="Text 24"/>
          <p:cNvSpPr/>
          <p:nvPr/>
        </p:nvSpPr>
        <p:spPr>
          <a:xfrm>
            <a:off x="5907024" y="5303520"/>
            <a:ext cx="365760" cy="502920"/>
          </a:xfrm>
          <a:prstGeom prst="rect">
            <a:avLst/>
          </a:prstGeom>
          <a:noFill/>
          <a:ln/>
        </p:spPr>
        <p:txBody>
          <a:bodyPr wrap="square" rtlCol="0" anchor="ctr"/>
          <a:lstStyle/>
          <a:p>
            <a:pPr algn="ctr" indent="0" marL="0">
              <a:buNone/>
            </a:pPr>
            <a:r>
              <a:rPr lang="en-US" sz="1400" b="1" dirty="0">
                <a:solidFill>
                  <a:srgbClr val="1E4D3B"/>
                </a:solidFill>
              </a:rPr>
              <a:t>➔</a:t>
            </a:r>
            <a:endParaRPr lang="en-US" sz="1400" dirty="0"/>
          </a:p>
        </p:txBody>
      </p:sp>
      <p:sp>
        <p:nvSpPr>
          <p:cNvPr id="27" name="Shape 25"/>
          <p:cNvSpPr/>
          <p:nvPr/>
        </p:nvSpPr>
        <p:spPr>
          <a:xfrm>
            <a:off x="6336792" y="4754880"/>
            <a:ext cx="5303520" cy="1600200"/>
          </a:xfrm>
          <a:prstGeom prst="roundRect">
            <a:avLst>
              <a:gd name="adj" fmla="val 5714"/>
            </a:avLst>
          </a:prstGeom>
          <a:solidFill>
            <a:srgbClr val="FFFDF5"/>
          </a:solidFill>
          <a:ln w="19050">
            <a:solidFill>
              <a:srgbClr val="C59B27"/>
            </a:solidFill>
            <a:prstDash val="solid"/>
          </a:ln>
          <a:effectLst>
            <a:outerShdw sx="100000" sy="100000" kx="0" ky="0" algn="bl" rotWithShape="0" blurRad="50800" dist="25400" dir="16200000">
              <a:srgbClr val="000000">
                <a:alpha val="5000"/>
              </a:srgbClr>
            </a:outerShdw>
          </a:effectLst>
        </p:spPr>
      </p:sp>
      <p:sp>
        <p:nvSpPr>
          <p:cNvPr id="28" name="Text 26"/>
          <p:cNvSpPr/>
          <p:nvPr/>
        </p:nvSpPr>
        <p:spPr>
          <a:xfrm>
            <a:off x="6519672" y="4892040"/>
            <a:ext cx="4937760" cy="320040"/>
          </a:xfrm>
          <a:prstGeom prst="rect">
            <a:avLst/>
          </a:prstGeom>
          <a:noFill/>
          <a:ln/>
        </p:spPr>
        <p:txBody>
          <a:bodyPr wrap="square" rtlCol="0" anchor="ctr"/>
          <a:lstStyle/>
          <a:p>
            <a:pPr algn="r" indent="0" marL="0">
              <a:buNone/>
            </a:pPr>
            <a:r>
              <a:rPr lang="en-US" sz="1350" b="1" dirty="0">
                <a:solidFill>
                  <a:srgbClr val="C59B27"/>
                </a:solidFill>
                <a:latin typeface="Cairo" pitchFamily="34" charset="0"/>
                <a:ea typeface="Cairo" pitchFamily="34" charset="-122"/>
                <a:cs typeface="Cairo" pitchFamily="34" charset="-120"/>
              </a:rPr>
              <a:t>⚠️ التحدي 3: الاستدامة المالية والتكاليف</a:t>
            </a:r>
            <a:endParaRPr lang="en-US" sz="1350" dirty="0"/>
          </a:p>
        </p:txBody>
      </p:sp>
      <p:sp>
        <p:nvSpPr>
          <p:cNvPr id="29" name="Text 27"/>
          <p:cNvSpPr/>
          <p:nvPr/>
        </p:nvSpPr>
        <p:spPr>
          <a:xfrm>
            <a:off x="6519672" y="5257800"/>
            <a:ext cx="4937760" cy="960120"/>
          </a:xfrm>
          <a:prstGeom prst="rect">
            <a:avLst/>
          </a:prstGeom>
          <a:noFill/>
          <a:ln/>
        </p:spPr>
        <p:txBody>
          <a:bodyPr wrap="square" rtlCol="0" anchor="ctr"/>
          <a:lstStyle/>
          <a:p>
            <a:pPr algn="r" indent="0" marL="0">
              <a:lnSpc>
                <a:spcPts val="1800"/>
              </a:lnSpc>
              <a:buNone/>
            </a:pPr>
            <a:r>
              <a:rPr lang="en-US" sz="1200" dirty="0">
                <a:solidFill>
                  <a:srgbClr val="1C2D31"/>
                </a:solidFill>
                <a:latin typeface="Tajawal" pitchFamily="34" charset="0"/>
                <a:ea typeface="Tajawal" pitchFamily="34" charset="-122"/>
                <a:cs typeface="Tajawal" pitchFamily="34" charset="-120"/>
              </a:rPr>
              <a:t>تأمين ميزانية التشغيل وتغطية تكاليف الخوادم والرواتب والتسويق.</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4D3B"/>
          </a:solidFill>
          <a:ln/>
        </p:spPr>
      </p:sp>
      <p:sp>
        <p:nvSpPr>
          <p:cNvPr id="3" name="Shape 1"/>
          <p:cNvSpPr/>
          <p:nvPr/>
        </p:nvSpPr>
        <p:spPr>
          <a:xfrm>
            <a:off x="0" y="978408"/>
            <a:ext cx="12188952" cy="45720"/>
          </a:xfrm>
          <a:prstGeom prst="rect">
            <a:avLst/>
          </a:prstGeom>
          <a:solidFill>
            <a:srgbClr val="C59B27"/>
          </a:solidFill>
          <a:ln/>
        </p:spPr>
      </p:sp>
      <p:sp>
        <p:nvSpPr>
          <p:cNvPr id="4" name="Text 2"/>
          <p:cNvSpPr/>
          <p:nvPr/>
        </p:nvSpPr>
        <p:spPr>
          <a:xfrm>
            <a:off x="457200" y="137160"/>
            <a:ext cx="11274552" cy="457200"/>
          </a:xfrm>
          <a:prstGeom prst="rect">
            <a:avLst/>
          </a:prstGeom>
          <a:noFill/>
          <a:ln/>
        </p:spPr>
        <p:txBody>
          <a:bodyPr wrap="square" rtlCol="0" anchor="ctr"/>
          <a:lstStyle/>
          <a:p>
            <a:pPr algn="r" indent="0" marL="0">
              <a:buNone/>
            </a:pPr>
            <a:r>
              <a:rPr lang="en-US" sz="2200" b="1" dirty="0">
                <a:solidFill>
                  <a:srgbClr val="C59B27"/>
                </a:solidFill>
                <a:latin typeface="Cairo" pitchFamily="34" charset="0"/>
                <a:ea typeface="Cairo" pitchFamily="34" charset="-122"/>
                <a:cs typeface="Cairo" pitchFamily="34" charset="-120"/>
              </a:rPr>
              <a:t>معاينة البوابة الرقمية والملخص المالي التأسيسي</a:t>
            </a:r>
            <a:endParaRPr lang="en-US" sz="2200" dirty="0"/>
          </a:p>
        </p:txBody>
      </p:sp>
      <p:sp>
        <p:nvSpPr>
          <p:cNvPr id="5" name="Text 3"/>
          <p:cNvSpPr/>
          <p:nvPr/>
        </p:nvSpPr>
        <p:spPr>
          <a:xfrm>
            <a:off x="457200" y="566928"/>
            <a:ext cx="11274552" cy="320040"/>
          </a:xfrm>
          <a:prstGeom prst="rect">
            <a:avLst/>
          </a:prstGeom>
          <a:noFill/>
          <a:ln/>
        </p:spPr>
        <p:txBody>
          <a:bodyPr wrap="square" rtlCol="0" anchor="ctr"/>
          <a:lstStyle/>
          <a:p>
            <a:pPr algn="r" indent="0" marL="0">
              <a:buNone/>
            </a:pPr>
            <a:r>
              <a:rPr lang="en-US" sz="1300" dirty="0">
                <a:solidFill>
                  <a:srgbClr val="E2E8F0"/>
                </a:solidFill>
                <a:latin typeface="Tajawal" pitchFamily="34" charset="0"/>
                <a:ea typeface="Tajawal" pitchFamily="34" charset="-122"/>
                <a:cs typeface="Tajawal" pitchFamily="34" charset="-120"/>
              </a:rPr>
              <a:t>التحقق الميداني من جاهزية النظام والتقديرات المباشرة</a:t>
            </a:r>
            <a:endParaRPr lang="en-US" sz="1300" dirty="0"/>
          </a:p>
        </p:txBody>
      </p:sp>
      <p:sp>
        <p:nvSpPr>
          <p:cNvPr id="6" name="Shape 4"/>
          <p:cNvSpPr/>
          <p:nvPr/>
        </p:nvSpPr>
        <p:spPr>
          <a:xfrm>
            <a:off x="6217920" y="1188720"/>
            <a:ext cx="5422392" cy="5303520"/>
          </a:xfrm>
          <a:prstGeom prst="roundRect">
            <a:avLst>
              <a:gd name="adj" fmla="val 2069"/>
            </a:avLst>
          </a:prstGeom>
          <a:solidFill>
            <a:srgbClr val="FFFFFF"/>
          </a:solidFill>
          <a:ln w="19050">
            <a:solidFill>
              <a:srgbClr val="1E4D3B"/>
            </a:solidFill>
            <a:prstDash val="solid"/>
          </a:ln>
          <a:effectLst>
            <a:outerShdw sx="100000" sy="100000" kx="0" ky="0" algn="bl" rotWithShape="0" blurRad="76200" dist="38100" dir="16200000">
              <a:srgbClr val="000000">
                <a:alpha val="6000"/>
              </a:srgbClr>
            </a:outerShdw>
          </a:effectLst>
        </p:spPr>
      </p:sp>
      <p:sp>
        <p:nvSpPr>
          <p:cNvPr id="7" name="Shape 5"/>
          <p:cNvSpPr/>
          <p:nvPr/>
        </p:nvSpPr>
        <p:spPr>
          <a:xfrm>
            <a:off x="6400800" y="1325880"/>
            <a:ext cx="5056632" cy="502920"/>
          </a:xfrm>
          <a:prstGeom prst="roundRect">
            <a:avLst>
              <a:gd name="adj" fmla="val 14545"/>
            </a:avLst>
          </a:prstGeom>
          <a:solidFill>
            <a:srgbClr val="1E4D3B"/>
          </a:solidFill>
          <a:ln/>
        </p:spPr>
      </p:sp>
      <p:sp>
        <p:nvSpPr>
          <p:cNvPr id="8" name="Text 6"/>
          <p:cNvSpPr/>
          <p:nvPr/>
        </p:nvSpPr>
        <p:spPr>
          <a:xfrm>
            <a:off x="6400800" y="1371600"/>
            <a:ext cx="5056632" cy="411480"/>
          </a:xfrm>
          <a:prstGeom prst="rect">
            <a:avLst/>
          </a:prstGeom>
          <a:noFill/>
          <a:ln/>
        </p:spPr>
        <p:txBody>
          <a:bodyPr wrap="square" rtlCol="0" anchor="ctr"/>
          <a:lstStyle/>
          <a:p>
            <a:pPr algn="ctr" indent="0" marL="0">
              <a:buNone/>
            </a:pPr>
            <a:r>
              <a:rPr lang="en-US" sz="1400" b="1" dirty="0">
                <a:solidFill>
                  <a:srgbClr val="C59B27"/>
                </a:solidFill>
                <a:latin typeface="Cairo" pitchFamily="34" charset="0"/>
                <a:ea typeface="Cairo" pitchFamily="34" charset="-122"/>
                <a:cs typeface="Cairo" pitchFamily="34" charset="-120"/>
              </a:rPr>
              <a:t>💻 معاينة واجهة المنصة الرقمية العاملة</a:t>
            </a:r>
            <a:endParaRPr lang="en-US" sz="1400" dirty="0"/>
          </a:p>
        </p:txBody>
      </p:sp>
      <p:sp>
        <p:nvSpPr>
          <p:cNvPr id="9" name="Shape 7"/>
          <p:cNvSpPr/>
          <p:nvPr/>
        </p:nvSpPr>
        <p:spPr>
          <a:xfrm>
            <a:off x="6492240" y="1965960"/>
            <a:ext cx="4873752" cy="868680"/>
          </a:xfrm>
          <a:prstGeom prst="roundRect">
            <a:avLst>
              <a:gd name="adj" fmla="val 8421"/>
            </a:avLst>
          </a:prstGeom>
          <a:solidFill>
            <a:srgbClr val="F4F6F5"/>
          </a:solidFill>
          <a:ln w="12700">
            <a:solidFill>
              <a:srgbClr val="C59B27"/>
            </a:solidFill>
            <a:prstDash val="solid"/>
          </a:ln>
        </p:spPr>
      </p:sp>
      <p:sp>
        <p:nvSpPr>
          <p:cNvPr id="10" name="Text 8"/>
          <p:cNvSpPr/>
          <p:nvPr/>
        </p:nvSpPr>
        <p:spPr>
          <a:xfrm>
            <a:off x="6629400" y="2057400"/>
            <a:ext cx="4599432" cy="320040"/>
          </a:xfrm>
          <a:prstGeom prst="rect">
            <a:avLst/>
          </a:prstGeom>
          <a:noFill/>
          <a:ln/>
        </p:spPr>
        <p:txBody>
          <a:bodyPr wrap="square" rtlCol="0" anchor="ctr"/>
          <a:lstStyle/>
          <a:p>
            <a:pPr algn="r" indent="0" marL="0">
              <a:buNone/>
            </a:pPr>
            <a:r>
              <a:rPr lang="en-US" sz="1250" b="1" dirty="0">
                <a:solidFill>
                  <a:srgbClr val="1E4D3B"/>
                </a:solidFill>
                <a:latin typeface="Cairo" pitchFamily="34" charset="0"/>
                <a:ea typeface="Cairo" pitchFamily="34" charset="-122"/>
                <a:cs typeface="Cairo" pitchFamily="34" charset="-120"/>
              </a:rPr>
              <a:t>📊 لوحة متابعة إنجاز الحفظ والمراجعة</a:t>
            </a:r>
            <a:endParaRPr lang="en-US" sz="1250" dirty="0"/>
          </a:p>
        </p:txBody>
      </p:sp>
      <p:sp>
        <p:nvSpPr>
          <p:cNvPr id="11" name="Text 9"/>
          <p:cNvSpPr/>
          <p:nvPr/>
        </p:nvSpPr>
        <p:spPr>
          <a:xfrm>
            <a:off x="6629400" y="2377440"/>
            <a:ext cx="4599432" cy="320040"/>
          </a:xfrm>
          <a:prstGeom prst="rect">
            <a:avLst/>
          </a:prstGeom>
          <a:noFill/>
          <a:ln/>
        </p:spPr>
        <p:txBody>
          <a:bodyPr wrap="square" rtlCol="0" anchor="ctr"/>
          <a:lstStyle/>
          <a:p>
            <a:pPr algn="r" indent="0" marL="0">
              <a:buNone/>
            </a:pPr>
            <a:r>
              <a:rPr lang="en-US" sz="1100" dirty="0">
                <a:solidFill>
                  <a:srgbClr val="4A5568"/>
                </a:solidFill>
                <a:latin typeface="Tajawal" pitchFamily="34" charset="0"/>
                <a:ea typeface="Tajawal" pitchFamily="34" charset="-122"/>
                <a:cs typeface="Tajawal" pitchFamily="34" charset="-120"/>
              </a:rPr>
              <a:t>متابعة يومية دقيقة</a:t>
            </a:r>
            <a:endParaRPr lang="en-US" sz="1100" dirty="0"/>
          </a:p>
        </p:txBody>
      </p:sp>
      <p:sp>
        <p:nvSpPr>
          <p:cNvPr id="12" name="Shape 10"/>
          <p:cNvSpPr/>
          <p:nvPr/>
        </p:nvSpPr>
        <p:spPr>
          <a:xfrm>
            <a:off x="6492240" y="3017520"/>
            <a:ext cx="4873752" cy="868680"/>
          </a:xfrm>
          <a:prstGeom prst="roundRect">
            <a:avLst>
              <a:gd name="adj" fmla="val 8421"/>
            </a:avLst>
          </a:prstGeom>
          <a:solidFill>
            <a:srgbClr val="F4F6F5"/>
          </a:solidFill>
          <a:ln w="12700">
            <a:solidFill>
              <a:srgbClr val="C59B27"/>
            </a:solidFill>
            <a:prstDash val="solid"/>
          </a:ln>
        </p:spPr>
      </p:sp>
      <p:sp>
        <p:nvSpPr>
          <p:cNvPr id="13" name="Text 11"/>
          <p:cNvSpPr/>
          <p:nvPr/>
        </p:nvSpPr>
        <p:spPr>
          <a:xfrm>
            <a:off x="6629400" y="3108960"/>
            <a:ext cx="4599432" cy="320040"/>
          </a:xfrm>
          <a:prstGeom prst="rect">
            <a:avLst/>
          </a:prstGeom>
          <a:noFill/>
          <a:ln/>
        </p:spPr>
        <p:txBody>
          <a:bodyPr wrap="square" rtlCol="0" anchor="ctr"/>
          <a:lstStyle/>
          <a:p>
            <a:pPr algn="r" indent="0" marL="0">
              <a:buNone/>
            </a:pPr>
            <a:r>
              <a:rPr lang="en-US" sz="1250" b="1" dirty="0">
                <a:solidFill>
                  <a:srgbClr val="1E4D3B"/>
                </a:solidFill>
                <a:latin typeface="Cairo" pitchFamily="34" charset="0"/>
                <a:ea typeface="Cairo" pitchFamily="34" charset="-122"/>
                <a:cs typeface="Cairo" pitchFamily="34" charset="-120"/>
              </a:rPr>
              <a:t>📈 نسبة تقدم الطالب والتقييم السلوكي</a:t>
            </a:r>
            <a:endParaRPr lang="en-US" sz="1250" dirty="0"/>
          </a:p>
        </p:txBody>
      </p:sp>
      <p:sp>
        <p:nvSpPr>
          <p:cNvPr id="14" name="Text 12"/>
          <p:cNvSpPr/>
          <p:nvPr/>
        </p:nvSpPr>
        <p:spPr>
          <a:xfrm>
            <a:off x="6629400" y="3429000"/>
            <a:ext cx="4599432" cy="320040"/>
          </a:xfrm>
          <a:prstGeom prst="rect">
            <a:avLst/>
          </a:prstGeom>
          <a:noFill/>
          <a:ln/>
        </p:spPr>
        <p:txBody>
          <a:bodyPr wrap="square" rtlCol="0" anchor="ctr"/>
          <a:lstStyle/>
          <a:p>
            <a:pPr algn="r" indent="0" marL="0">
              <a:buNone/>
            </a:pPr>
            <a:r>
              <a:rPr lang="en-US" sz="1100" dirty="0">
                <a:solidFill>
                  <a:srgbClr val="4A5568"/>
                </a:solidFill>
                <a:latin typeface="Tajawal" pitchFamily="34" charset="0"/>
                <a:ea typeface="Tajawal" pitchFamily="34" charset="-122"/>
                <a:cs typeface="Tajawal" pitchFamily="34" charset="-120"/>
              </a:rPr>
              <a:t>سجل أداء متكامل 100%</a:t>
            </a:r>
            <a:endParaRPr lang="en-US" sz="1100" dirty="0"/>
          </a:p>
        </p:txBody>
      </p:sp>
      <p:sp>
        <p:nvSpPr>
          <p:cNvPr id="15" name="Shape 13"/>
          <p:cNvSpPr/>
          <p:nvPr/>
        </p:nvSpPr>
        <p:spPr>
          <a:xfrm>
            <a:off x="6492240" y="4069080"/>
            <a:ext cx="4873752" cy="868680"/>
          </a:xfrm>
          <a:prstGeom prst="roundRect">
            <a:avLst>
              <a:gd name="adj" fmla="val 8421"/>
            </a:avLst>
          </a:prstGeom>
          <a:solidFill>
            <a:srgbClr val="F4F6F5"/>
          </a:solidFill>
          <a:ln w="12700">
            <a:solidFill>
              <a:srgbClr val="C59B27"/>
            </a:solidFill>
            <a:prstDash val="solid"/>
          </a:ln>
        </p:spPr>
      </p:sp>
      <p:sp>
        <p:nvSpPr>
          <p:cNvPr id="16" name="Text 14"/>
          <p:cNvSpPr/>
          <p:nvPr/>
        </p:nvSpPr>
        <p:spPr>
          <a:xfrm>
            <a:off x="6629400" y="4160520"/>
            <a:ext cx="4599432" cy="320040"/>
          </a:xfrm>
          <a:prstGeom prst="rect">
            <a:avLst/>
          </a:prstGeom>
          <a:noFill/>
          <a:ln/>
        </p:spPr>
        <p:txBody>
          <a:bodyPr wrap="square" rtlCol="0" anchor="ctr"/>
          <a:lstStyle/>
          <a:p>
            <a:pPr algn="r" indent="0" marL="0">
              <a:buNone/>
            </a:pPr>
            <a:r>
              <a:rPr lang="en-US" sz="1250" b="1" dirty="0">
                <a:solidFill>
                  <a:srgbClr val="1E4D3B"/>
                </a:solidFill>
                <a:latin typeface="Cairo" pitchFamily="34" charset="0"/>
                <a:ea typeface="Cairo" pitchFamily="34" charset="-122"/>
                <a:cs typeface="Cairo" pitchFamily="34" charset="-120"/>
              </a:rPr>
              <a:t>🎥 بث حلقة Zoom التفاعلية المباشرة</a:t>
            </a:r>
            <a:endParaRPr lang="en-US" sz="1250" dirty="0"/>
          </a:p>
        </p:txBody>
      </p:sp>
      <p:sp>
        <p:nvSpPr>
          <p:cNvPr id="17" name="Text 15"/>
          <p:cNvSpPr/>
          <p:nvPr/>
        </p:nvSpPr>
        <p:spPr>
          <a:xfrm>
            <a:off x="6629400" y="4480560"/>
            <a:ext cx="4599432" cy="320040"/>
          </a:xfrm>
          <a:prstGeom prst="rect">
            <a:avLst/>
          </a:prstGeom>
          <a:noFill/>
          <a:ln/>
        </p:spPr>
        <p:txBody>
          <a:bodyPr wrap="square" rtlCol="0" anchor="ctr"/>
          <a:lstStyle/>
          <a:p>
            <a:pPr algn="r" indent="0" marL="0">
              <a:buNone/>
            </a:pPr>
            <a:r>
              <a:rPr lang="en-US" sz="1100" dirty="0">
                <a:solidFill>
                  <a:srgbClr val="4A5568"/>
                </a:solidFill>
                <a:latin typeface="Tajawal" pitchFamily="34" charset="0"/>
                <a:ea typeface="Tajawal" pitchFamily="34" charset="-122"/>
                <a:cs typeface="Tajawal" pitchFamily="34" charset="-120"/>
              </a:rPr>
              <a:t>ربط متكامل ومباشر</a:t>
            </a:r>
            <a:endParaRPr lang="en-US" sz="1100" dirty="0"/>
          </a:p>
        </p:txBody>
      </p:sp>
      <p:sp>
        <p:nvSpPr>
          <p:cNvPr id="18" name="Shape 16"/>
          <p:cNvSpPr/>
          <p:nvPr/>
        </p:nvSpPr>
        <p:spPr>
          <a:xfrm>
            <a:off x="6492240" y="5120640"/>
            <a:ext cx="4873752" cy="868680"/>
          </a:xfrm>
          <a:prstGeom prst="roundRect">
            <a:avLst>
              <a:gd name="adj" fmla="val 8421"/>
            </a:avLst>
          </a:prstGeom>
          <a:solidFill>
            <a:srgbClr val="F4F6F5"/>
          </a:solidFill>
          <a:ln w="12700">
            <a:solidFill>
              <a:srgbClr val="C59B27"/>
            </a:solidFill>
            <a:prstDash val="solid"/>
          </a:ln>
        </p:spPr>
      </p:sp>
      <p:sp>
        <p:nvSpPr>
          <p:cNvPr id="19" name="Text 17"/>
          <p:cNvSpPr/>
          <p:nvPr/>
        </p:nvSpPr>
        <p:spPr>
          <a:xfrm>
            <a:off x="6629400" y="5212080"/>
            <a:ext cx="4599432" cy="320040"/>
          </a:xfrm>
          <a:prstGeom prst="rect">
            <a:avLst/>
          </a:prstGeom>
          <a:noFill/>
          <a:ln/>
        </p:spPr>
        <p:txBody>
          <a:bodyPr wrap="square" rtlCol="0" anchor="ctr"/>
          <a:lstStyle/>
          <a:p>
            <a:pPr algn="r" indent="0" marL="0">
              <a:buNone/>
            </a:pPr>
            <a:r>
              <a:rPr lang="en-US" sz="1250" b="1" dirty="0">
                <a:solidFill>
                  <a:srgbClr val="1E4D3B"/>
                </a:solidFill>
                <a:latin typeface="Cairo" pitchFamily="34" charset="0"/>
                <a:ea typeface="Cairo" pitchFamily="34" charset="-122"/>
                <a:cs typeface="Cairo" pitchFamily="34" charset="-120"/>
              </a:rPr>
              <a:t>💬 نظام التواصل المباشر مع أولياء الأمور</a:t>
            </a:r>
            <a:endParaRPr lang="en-US" sz="1250" dirty="0"/>
          </a:p>
        </p:txBody>
      </p:sp>
      <p:sp>
        <p:nvSpPr>
          <p:cNvPr id="20" name="Text 18"/>
          <p:cNvSpPr/>
          <p:nvPr/>
        </p:nvSpPr>
        <p:spPr>
          <a:xfrm>
            <a:off x="6629400" y="5532120"/>
            <a:ext cx="4599432" cy="320040"/>
          </a:xfrm>
          <a:prstGeom prst="rect">
            <a:avLst/>
          </a:prstGeom>
          <a:noFill/>
          <a:ln/>
        </p:spPr>
        <p:txBody>
          <a:bodyPr wrap="square" rtlCol="0" anchor="ctr"/>
          <a:lstStyle/>
          <a:p>
            <a:pPr algn="r" indent="0" marL="0">
              <a:buNone/>
            </a:pPr>
            <a:r>
              <a:rPr lang="en-US" sz="1100" dirty="0">
                <a:solidFill>
                  <a:srgbClr val="4A5568"/>
                </a:solidFill>
                <a:latin typeface="Tajawal" pitchFamily="34" charset="0"/>
                <a:ea typeface="Tajawal" pitchFamily="34" charset="-122"/>
                <a:cs typeface="Tajawal" pitchFamily="34" charset="-120"/>
              </a:rPr>
              <a:t>تقارير واتساب فورية</a:t>
            </a:r>
            <a:endParaRPr lang="en-US" sz="1100" dirty="0"/>
          </a:p>
        </p:txBody>
      </p:sp>
      <p:sp>
        <p:nvSpPr>
          <p:cNvPr id="21" name="Shape 19"/>
          <p:cNvSpPr/>
          <p:nvPr/>
        </p:nvSpPr>
        <p:spPr>
          <a:xfrm>
            <a:off x="548640" y="1188720"/>
            <a:ext cx="5422392" cy="5303520"/>
          </a:xfrm>
          <a:prstGeom prst="roundRect">
            <a:avLst>
              <a:gd name="adj" fmla="val 2069"/>
            </a:avLst>
          </a:prstGeom>
          <a:solidFill>
            <a:srgbClr val="FFFFFF"/>
          </a:solidFill>
          <a:ln w="19050">
            <a:solidFill>
              <a:srgbClr val="C59B27"/>
            </a:solidFill>
            <a:prstDash val="solid"/>
          </a:ln>
          <a:effectLst>
            <a:outerShdw sx="100000" sy="100000" kx="0" ky="0" algn="bl" rotWithShape="0" blurRad="76200" dist="38100" dir="16200000">
              <a:srgbClr val="000000">
                <a:alpha val="6000"/>
              </a:srgbClr>
            </a:outerShdw>
          </a:effectLst>
        </p:spPr>
      </p:sp>
      <p:sp>
        <p:nvSpPr>
          <p:cNvPr id="22" name="Shape 20"/>
          <p:cNvSpPr/>
          <p:nvPr/>
        </p:nvSpPr>
        <p:spPr>
          <a:xfrm>
            <a:off x="731520" y="1325880"/>
            <a:ext cx="5056632" cy="502920"/>
          </a:xfrm>
          <a:prstGeom prst="roundRect">
            <a:avLst>
              <a:gd name="adj" fmla="val 14545"/>
            </a:avLst>
          </a:prstGeom>
          <a:solidFill>
            <a:srgbClr val="1E4D3B"/>
          </a:solidFill>
          <a:ln/>
        </p:spPr>
      </p:sp>
      <p:sp>
        <p:nvSpPr>
          <p:cNvPr id="23" name="Text 21"/>
          <p:cNvSpPr/>
          <p:nvPr/>
        </p:nvSpPr>
        <p:spPr>
          <a:xfrm>
            <a:off x="731520" y="1371600"/>
            <a:ext cx="5056632" cy="411480"/>
          </a:xfrm>
          <a:prstGeom prst="rect">
            <a:avLst/>
          </a:prstGeom>
          <a:noFill/>
          <a:ln/>
        </p:spPr>
        <p:txBody>
          <a:bodyPr wrap="square" rtlCol="0" anchor="ctr"/>
          <a:lstStyle/>
          <a:p>
            <a:pPr algn="ctr" indent="0" marL="0">
              <a:buNone/>
            </a:pPr>
            <a:r>
              <a:rPr lang="en-US" sz="1400" b="1" dirty="0">
                <a:solidFill>
                  <a:srgbClr val="C59B27"/>
                </a:solidFill>
                <a:latin typeface="Cairo" pitchFamily="34" charset="0"/>
                <a:ea typeface="Cairo" pitchFamily="34" charset="-122"/>
                <a:cs typeface="Cairo" pitchFamily="34" charset="-120"/>
              </a:rPr>
              <a:t>💰 الملخص المالي التأسيسي (فترة 4 أشهر)</a:t>
            </a:r>
            <a:endParaRPr lang="en-US" sz="1400" dirty="0"/>
          </a:p>
        </p:txBody>
      </p:sp>
      <p:sp>
        <p:nvSpPr>
          <p:cNvPr id="24" name="Shape 22"/>
          <p:cNvSpPr/>
          <p:nvPr/>
        </p:nvSpPr>
        <p:spPr>
          <a:xfrm>
            <a:off x="731520" y="1965960"/>
            <a:ext cx="5056632" cy="1280160"/>
          </a:xfrm>
          <a:prstGeom prst="roundRect">
            <a:avLst>
              <a:gd name="adj" fmla="val 5714"/>
            </a:avLst>
          </a:prstGeom>
          <a:solidFill>
            <a:srgbClr val="F0FDF4"/>
          </a:solidFill>
          <a:ln w="19050">
            <a:solidFill>
              <a:srgbClr val="1E4D3B"/>
            </a:solidFill>
            <a:prstDash val="solid"/>
          </a:ln>
        </p:spPr>
      </p:sp>
      <p:sp>
        <p:nvSpPr>
          <p:cNvPr id="25" name="Text 23"/>
          <p:cNvSpPr/>
          <p:nvPr/>
        </p:nvSpPr>
        <p:spPr>
          <a:xfrm>
            <a:off x="868680" y="2057400"/>
            <a:ext cx="3200400" cy="320040"/>
          </a:xfrm>
          <a:prstGeom prst="rect">
            <a:avLst/>
          </a:prstGeom>
          <a:noFill/>
          <a:ln/>
        </p:spPr>
        <p:txBody>
          <a:bodyPr wrap="square" rtlCol="0" anchor="ctr"/>
          <a:lstStyle/>
          <a:p>
            <a:pPr algn="r" indent="0" marL="0">
              <a:buNone/>
            </a:pPr>
            <a:r>
              <a:rPr lang="en-US" sz="1200" b="1" dirty="0">
                <a:solidFill>
                  <a:srgbClr val="1C2D31"/>
                </a:solidFill>
                <a:latin typeface="Cairo" pitchFamily="34" charset="0"/>
                <a:ea typeface="Cairo" pitchFamily="34" charset="-122"/>
                <a:cs typeface="Cairo" pitchFamily="34" charset="-120"/>
              </a:rPr>
              <a:t>الميزانية التشغيلية المطلوبة للانطلاق</a:t>
            </a:r>
            <a:endParaRPr lang="en-US" sz="1200" dirty="0"/>
          </a:p>
        </p:txBody>
      </p:sp>
      <p:sp>
        <p:nvSpPr>
          <p:cNvPr id="26" name="Text 24"/>
          <p:cNvSpPr/>
          <p:nvPr/>
        </p:nvSpPr>
        <p:spPr>
          <a:xfrm>
            <a:off x="4023360" y="2039112"/>
            <a:ext cx="1645920" cy="365760"/>
          </a:xfrm>
          <a:prstGeom prst="rect">
            <a:avLst/>
          </a:prstGeom>
          <a:noFill/>
          <a:ln/>
        </p:spPr>
        <p:txBody>
          <a:bodyPr wrap="square" rtlCol="0" anchor="ctr"/>
          <a:lstStyle/>
          <a:p>
            <a:pPr algn="ctr" indent="0" marL="0">
              <a:buNone/>
            </a:pPr>
            <a:r>
              <a:rPr lang="en-US" sz="1400" b="1" dirty="0">
                <a:solidFill>
                  <a:srgbClr val="1E4D3B"/>
                </a:solidFill>
                <a:latin typeface="Cairo" pitchFamily="34" charset="0"/>
                <a:ea typeface="Cairo" pitchFamily="34" charset="-122"/>
                <a:cs typeface="Cairo" pitchFamily="34" charset="-120"/>
              </a:rPr>
              <a:t>$2,000 – $2,300</a:t>
            </a:r>
            <a:endParaRPr lang="en-US" sz="1400" dirty="0"/>
          </a:p>
        </p:txBody>
      </p:sp>
      <p:sp>
        <p:nvSpPr>
          <p:cNvPr id="27" name="Text 25"/>
          <p:cNvSpPr/>
          <p:nvPr/>
        </p:nvSpPr>
        <p:spPr>
          <a:xfrm>
            <a:off x="868680" y="2423160"/>
            <a:ext cx="4782312" cy="731520"/>
          </a:xfrm>
          <a:prstGeom prst="rect">
            <a:avLst/>
          </a:prstGeom>
          <a:noFill/>
          <a:ln/>
        </p:spPr>
        <p:txBody>
          <a:bodyPr wrap="square" rtlCol="0" anchor="ctr"/>
          <a:lstStyle/>
          <a:p>
            <a:pPr algn="r" indent="0" marL="0">
              <a:lnSpc>
                <a:spcPts val="1500"/>
              </a:lnSpc>
              <a:buNone/>
            </a:pPr>
            <a:r>
              <a:rPr lang="en-US" sz="1050" dirty="0">
                <a:solidFill>
                  <a:srgbClr val="4A5568"/>
                </a:solidFill>
                <a:latin typeface="Tajawal" pitchFamily="34" charset="0"/>
                <a:ea typeface="Tajawal" pitchFamily="34" charset="-122"/>
                <a:cs typeface="Tajawal" pitchFamily="34" charset="-120"/>
              </a:rPr>
              <a:t>تغطي تطوير الخوادم، برمجيات المنصة، تراخيص Zoom، التسويق المبدئي ومكافآت الكادر.</a:t>
            </a:r>
            <a:endParaRPr lang="en-US" sz="1050" dirty="0"/>
          </a:p>
        </p:txBody>
      </p:sp>
      <p:sp>
        <p:nvSpPr>
          <p:cNvPr id="28" name="Shape 26"/>
          <p:cNvSpPr/>
          <p:nvPr/>
        </p:nvSpPr>
        <p:spPr>
          <a:xfrm>
            <a:off x="731520" y="3383280"/>
            <a:ext cx="5056632" cy="1280160"/>
          </a:xfrm>
          <a:prstGeom prst="roundRect">
            <a:avLst>
              <a:gd name="adj" fmla="val 5714"/>
            </a:avLst>
          </a:prstGeom>
          <a:solidFill>
            <a:srgbClr val="FEFCBF"/>
          </a:solidFill>
          <a:ln w="19050">
            <a:solidFill>
              <a:srgbClr val="C59B27"/>
            </a:solidFill>
            <a:prstDash val="solid"/>
          </a:ln>
        </p:spPr>
      </p:sp>
      <p:sp>
        <p:nvSpPr>
          <p:cNvPr id="29" name="Text 27"/>
          <p:cNvSpPr/>
          <p:nvPr/>
        </p:nvSpPr>
        <p:spPr>
          <a:xfrm>
            <a:off x="868680" y="3474720"/>
            <a:ext cx="3200400" cy="320040"/>
          </a:xfrm>
          <a:prstGeom prst="rect">
            <a:avLst/>
          </a:prstGeom>
          <a:noFill/>
          <a:ln/>
        </p:spPr>
        <p:txBody>
          <a:bodyPr wrap="square" rtlCol="0" anchor="ctr"/>
          <a:lstStyle/>
          <a:p>
            <a:pPr algn="r" indent="0" marL="0">
              <a:buNone/>
            </a:pPr>
            <a:r>
              <a:rPr lang="en-US" sz="1200" b="1" dirty="0">
                <a:solidFill>
                  <a:srgbClr val="1C2D31"/>
                </a:solidFill>
                <a:latin typeface="Cairo" pitchFamily="34" charset="0"/>
                <a:ea typeface="Cairo" pitchFamily="34" charset="-122"/>
                <a:cs typeface="Cairo" pitchFamily="34" charset="-120"/>
              </a:rPr>
              <a:t>المبلغ المتوفر حالياً (دعم مبدئي)</a:t>
            </a:r>
            <a:endParaRPr lang="en-US" sz="1200" dirty="0"/>
          </a:p>
        </p:txBody>
      </p:sp>
      <p:sp>
        <p:nvSpPr>
          <p:cNvPr id="30" name="Text 28"/>
          <p:cNvSpPr/>
          <p:nvPr/>
        </p:nvSpPr>
        <p:spPr>
          <a:xfrm>
            <a:off x="4023360" y="3456432"/>
            <a:ext cx="1645920" cy="365760"/>
          </a:xfrm>
          <a:prstGeom prst="rect">
            <a:avLst/>
          </a:prstGeom>
          <a:noFill/>
          <a:ln/>
        </p:spPr>
        <p:txBody>
          <a:bodyPr wrap="square" rtlCol="0" anchor="ctr"/>
          <a:lstStyle/>
          <a:p>
            <a:pPr algn="ctr" indent="0" marL="0">
              <a:buNone/>
            </a:pPr>
            <a:r>
              <a:rPr lang="en-US" sz="1400" b="1" dirty="0">
                <a:solidFill>
                  <a:srgbClr val="C59B27"/>
                </a:solidFill>
                <a:latin typeface="Cairo" pitchFamily="34" charset="0"/>
                <a:ea typeface="Cairo" pitchFamily="34" charset="-122"/>
                <a:cs typeface="Cairo" pitchFamily="34" charset="-120"/>
              </a:rPr>
              <a:t>$1,000 – $1,300</a:t>
            </a:r>
            <a:endParaRPr lang="en-US" sz="1400" dirty="0"/>
          </a:p>
        </p:txBody>
      </p:sp>
      <p:sp>
        <p:nvSpPr>
          <p:cNvPr id="31" name="Text 29"/>
          <p:cNvSpPr/>
          <p:nvPr/>
        </p:nvSpPr>
        <p:spPr>
          <a:xfrm>
            <a:off x="868680" y="3840480"/>
            <a:ext cx="4782312" cy="731520"/>
          </a:xfrm>
          <a:prstGeom prst="rect">
            <a:avLst/>
          </a:prstGeom>
          <a:noFill/>
          <a:ln/>
        </p:spPr>
        <p:txBody>
          <a:bodyPr wrap="square" rtlCol="0" anchor="ctr"/>
          <a:lstStyle/>
          <a:p>
            <a:pPr algn="r" indent="0" marL="0">
              <a:lnSpc>
                <a:spcPts val="1500"/>
              </a:lnSpc>
              <a:buNone/>
            </a:pPr>
            <a:r>
              <a:rPr lang="en-US" sz="1050" dirty="0">
                <a:solidFill>
                  <a:srgbClr val="4A5568"/>
                </a:solidFill>
                <a:latin typeface="Tajawal" pitchFamily="34" charset="0"/>
                <a:ea typeface="Tajawal" pitchFamily="34" charset="-122"/>
                <a:cs typeface="Tajawal" pitchFamily="34" charset="-120"/>
              </a:rPr>
              <a:t>تم تأمينه كدعم أولي لبدء الأعمال التأسيسية والتشغيل التجريبي.</a:t>
            </a:r>
            <a:endParaRPr lang="en-US" sz="1050" dirty="0"/>
          </a:p>
        </p:txBody>
      </p:sp>
      <p:sp>
        <p:nvSpPr>
          <p:cNvPr id="32" name="Shape 30"/>
          <p:cNvSpPr/>
          <p:nvPr/>
        </p:nvSpPr>
        <p:spPr>
          <a:xfrm>
            <a:off x="731520" y="4800600"/>
            <a:ext cx="5056632" cy="1280160"/>
          </a:xfrm>
          <a:prstGeom prst="roundRect">
            <a:avLst>
              <a:gd name="adj" fmla="val 5714"/>
            </a:avLst>
          </a:prstGeom>
          <a:solidFill>
            <a:srgbClr val="FFF5F5"/>
          </a:solidFill>
          <a:ln w="19050">
            <a:solidFill>
              <a:srgbClr val="C53030"/>
            </a:solidFill>
            <a:prstDash val="solid"/>
          </a:ln>
        </p:spPr>
      </p:sp>
      <p:sp>
        <p:nvSpPr>
          <p:cNvPr id="33" name="Text 31"/>
          <p:cNvSpPr/>
          <p:nvPr/>
        </p:nvSpPr>
        <p:spPr>
          <a:xfrm>
            <a:off x="868680" y="4892040"/>
            <a:ext cx="3200400" cy="320040"/>
          </a:xfrm>
          <a:prstGeom prst="rect">
            <a:avLst/>
          </a:prstGeom>
          <a:noFill/>
          <a:ln/>
        </p:spPr>
        <p:txBody>
          <a:bodyPr wrap="square" rtlCol="0" anchor="ctr"/>
          <a:lstStyle/>
          <a:p>
            <a:pPr algn="r" indent="0" marL="0">
              <a:buNone/>
            </a:pPr>
            <a:r>
              <a:rPr lang="en-US" sz="1200" b="1" dirty="0">
                <a:solidFill>
                  <a:srgbClr val="1C2D31"/>
                </a:solidFill>
                <a:latin typeface="Cairo" pitchFamily="34" charset="0"/>
                <a:ea typeface="Cairo" pitchFamily="34" charset="-122"/>
                <a:cs typeface="Cairo" pitchFamily="34" charset="-120"/>
              </a:rPr>
              <a:t>المبلغ المتبقي للانطلاق المباشر</a:t>
            </a:r>
            <a:endParaRPr lang="en-US" sz="1200" dirty="0"/>
          </a:p>
        </p:txBody>
      </p:sp>
      <p:sp>
        <p:nvSpPr>
          <p:cNvPr id="34" name="Text 32"/>
          <p:cNvSpPr/>
          <p:nvPr/>
        </p:nvSpPr>
        <p:spPr>
          <a:xfrm>
            <a:off x="4023360" y="4873752"/>
            <a:ext cx="1645920" cy="365760"/>
          </a:xfrm>
          <a:prstGeom prst="rect">
            <a:avLst/>
          </a:prstGeom>
          <a:noFill/>
          <a:ln/>
        </p:spPr>
        <p:txBody>
          <a:bodyPr wrap="square" rtlCol="0" anchor="ctr"/>
          <a:lstStyle/>
          <a:p>
            <a:pPr algn="ctr" indent="0" marL="0">
              <a:buNone/>
            </a:pPr>
            <a:r>
              <a:rPr lang="en-US" sz="1400" b="1" dirty="0">
                <a:solidFill>
                  <a:srgbClr val="C53030"/>
                </a:solidFill>
                <a:latin typeface="Cairo" pitchFamily="34" charset="0"/>
                <a:ea typeface="Cairo" pitchFamily="34" charset="-122"/>
                <a:cs typeface="Cairo" pitchFamily="34" charset="-120"/>
              </a:rPr>
              <a:t>$800 – $1,000</a:t>
            </a:r>
            <a:endParaRPr lang="en-US" sz="1400" dirty="0"/>
          </a:p>
        </p:txBody>
      </p:sp>
      <p:sp>
        <p:nvSpPr>
          <p:cNvPr id="35" name="Text 33"/>
          <p:cNvSpPr/>
          <p:nvPr/>
        </p:nvSpPr>
        <p:spPr>
          <a:xfrm>
            <a:off x="868680" y="5257800"/>
            <a:ext cx="4782312" cy="731520"/>
          </a:xfrm>
          <a:prstGeom prst="rect">
            <a:avLst/>
          </a:prstGeom>
          <a:noFill/>
          <a:ln/>
        </p:spPr>
        <p:txBody>
          <a:bodyPr wrap="square" rtlCol="0" anchor="ctr"/>
          <a:lstStyle/>
          <a:p>
            <a:pPr algn="r" indent="0" marL="0">
              <a:lnSpc>
                <a:spcPts val="1500"/>
              </a:lnSpc>
              <a:buNone/>
            </a:pPr>
            <a:r>
              <a:rPr lang="en-US" sz="1050" dirty="0">
                <a:solidFill>
                  <a:srgbClr val="4A5568"/>
                </a:solidFill>
                <a:latin typeface="Tajawal" pitchFamily="34" charset="0"/>
                <a:ea typeface="Tajawal" pitchFamily="34" charset="-122"/>
                <a:cs typeface="Tajawal" pitchFamily="34" charset="-120"/>
              </a:rPr>
              <a:t>المبلغ المطلوب لتغطية كامل الخطة التشغيلية وتحقيق الانطلاق التام للمرحلة الأولى.</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9FB"/>
        </a:solidFill>
      </p:bgPr>
    </p:bg>
    <p:spTree>
      <p:nvGrpSpPr>
        <p:cNvPr id="1" name=""/>
        <p:cNvGrpSpPr/>
        <p:nvPr/>
      </p:nvGrpSpPr>
      <p:grpSpPr>
        <a:xfrm>
          <a:off x="0" y="0"/>
          <a:ext cx="0" cy="0"/>
          <a:chOff x="0" y="0"/>
          <a:chExt cx="0" cy="0"/>
        </a:xfrm>
      </p:grpSpPr>
      <p:sp>
        <p:nvSpPr>
          <p:cNvPr id="2" name="Shape 0"/>
          <p:cNvSpPr/>
          <p:nvPr/>
        </p:nvSpPr>
        <p:spPr>
          <a:xfrm>
            <a:off x="365760" y="365760"/>
            <a:ext cx="11457432" cy="6126480"/>
          </a:xfrm>
          <a:prstGeom prst="rect">
            <a:avLst/>
          </a:prstGeom>
          <a:solidFill>
            <a:srgbClr val="FFFFFF"/>
          </a:solidFill>
          <a:ln w="25400">
            <a:solidFill>
              <a:srgbClr val="C59B27"/>
            </a:solidFill>
            <a:prstDash val="solid"/>
          </a:ln>
        </p:spPr>
      </p:sp>
      <p:sp>
        <p:nvSpPr>
          <p:cNvPr id="3" name="Shape 1"/>
          <p:cNvSpPr/>
          <p:nvPr/>
        </p:nvSpPr>
        <p:spPr>
          <a:xfrm>
            <a:off x="502920" y="502920"/>
            <a:ext cx="11183112" cy="5852160"/>
          </a:xfrm>
          <a:prstGeom prst="rect">
            <a:avLst/>
          </a:prstGeom>
          <a:solidFill>
            <a:srgbClr val="FAFAFC"/>
          </a:solidFill>
          <a:ln w="12700">
            <a:solidFill>
              <a:srgbClr val="1E4D3B"/>
            </a:solidFill>
            <a:prstDash val="solid"/>
          </a:ln>
        </p:spPr>
      </p:sp>
      <p:sp>
        <p:nvSpPr>
          <p:cNvPr id="4" name="Shape 2"/>
          <p:cNvSpPr/>
          <p:nvPr/>
        </p:nvSpPr>
        <p:spPr>
          <a:xfrm>
            <a:off x="3346704" y="731520"/>
            <a:ext cx="5486400" cy="548640"/>
          </a:xfrm>
          <a:prstGeom prst="roundRect">
            <a:avLst>
              <a:gd name="adj" fmla="val 16667"/>
            </a:avLst>
          </a:prstGeom>
          <a:solidFill>
            <a:srgbClr val="1E4D3B"/>
          </a:solidFill>
          <a:ln w="12700">
            <a:solidFill>
              <a:srgbClr val="C59B27"/>
            </a:solidFill>
            <a:prstDash val="solid"/>
          </a:ln>
        </p:spPr>
      </p:sp>
      <p:sp>
        <p:nvSpPr>
          <p:cNvPr id="5" name="Text 3"/>
          <p:cNvSpPr/>
          <p:nvPr/>
        </p:nvSpPr>
        <p:spPr>
          <a:xfrm>
            <a:off x="3346704" y="777240"/>
            <a:ext cx="5486400" cy="457200"/>
          </a:xfrm>
          <a:prstGeom prst="rect">
            <a:avLst/>
          </a:prstGeom>
          <a:noFill/>
          <a:ln/>
        </p:spPr>
        <p:txBody>
          <a:bodyPr wrap="square" rtlCol="0" anchor="ctr"/>
          <a:lstStyle/>
          <a:p>
            <a:pPr algn="ctr" indent="0" marL="0">
              <a:buNone/>
            </a:pPr>
            <a:r>
              <a:rPr lang="en-US" sz="1600" b="1" dirty="0">
                <a:solidFill>
                  <a:srgbClr val="C59B27"/>
                </a:solidFill>
                <a:latin typeface="Cairo" pitchFamily="34" charset="0"/>
                <a:ea typeface="Cairo" pitchFamily="34" charset="-122"/>
                <a:cs typeface="Cairo" pitchFamily="34" charset="-120"/>
              </a:rPr>
              <a:t>🌿 الخاتمة والتطلع للمستقبل 🌿</a:t>
            </a:r>
            <a:endParaRPr lang="en-US" sz="1600" dirty="0"/>
          </a:p>
        </p:txBody>
      </p:sp>
      <p:sp>
        <p:nvSpPr>
          <p:cNvPr id="6" name="Shape 4"/>
          <p:cNvSpPr/>
          <p:nvPr/>
        </p:nvSpPr>
        <p:spPr>
          <a:xfrm>
            <a:off x="1097280" y="1463040"/>
            <a:ext cx="9994392" cy="3474720"/>
          </a:xfrm>
          <a:prstGeom prst="roundRect">
            <a:avLst>
              <a:gd name="adj" fmla="val 3947"/>
            </a:avLst>
          </a:prstGeom>
          <a:solidFill>
            <a:srgbClr val="FFFFFF"/>
          </a:solidFill>
          <a:ln w="25400">
            <a:solidFill>
              <a:srgbClr val="C59B27"/>
            </a:solidFill>
            <a:prstDash val="solid"/>
          </a:ln>
          <a:effectLst>
            <a:outerShdw sx="100000" sy="100000" kx="0" ky="0" algn="bl" rotWithShape="0" blurRad="127000" dist="50800" dir="16200000">
              <a:srgbClr val="000000">
                <a:alpha val="8000"/>
              </a:srgbClr>
            </a:outerShdw>
          </a:effectLst>
        </p:spPr>
      </p:sp>
      <p:sp>
        <p:nvSpPr>
          <p:cNvPr id="7" name="Shape 5"/>
          <p:cNvSpPr/>
          <p:nvPr/>
        </p:nvSpPr>
        <p:spPr>
          <a:xfrm>
            <a:off x="1234440" y="1600200"/>
            <a:ext cx="9720072" cy="3200400"/>
          </a:xfrm>
          <a:prstGeom prst="roundRect">
            <a:avLst>
              <a:gd name="adj" fmla="val 3429"/>
            </a:avLst>
          </a:prstGeom>
          <a:solidFill>
            <a:srgbClr val="FAFAF8"/>
          </a:solidFill>
          <a:ln w="12700">
            <a:solidFill>
              <a:srgbClr val="1E4D3B"/>
            </a:solidFill>
            <a:prstDash val="solid"/>
          </a:ln>
        </p:spPr>
      </p:sp>
      <p:sp>
        <p:nvSpPr>
          <p:cNvPr id="8" name="Text 6"/>
          <p:cNvSpPr/>
          <p:nvPr/>
        </p:nvSpPr>
        <p:spPr>
          <a:xfrm>
            <a:off x="1371600" y="1783080"/>
            <a:ext cx="9445752" cy="365760"/>
          </a:xfrm>
          <a:prstGeom prst="rect">
            <a:avLst/>
          </a:prstGeom>
          <a:noFill/>
          <a:ln/>
        </p:spPr>
        <p:txBody>
          <a:bodyPr wrap="square" rtlCol="0" anchor="ctr"/>
          <a:lstStyle/>
          <a:p>
            <a:pPr algn="ctr" indent="0" marL="0">
              <a:buNone/>
            </a:pPr>
            <a:r>
              <a:rPr lang="en-US" sz="1600" b="1" dirty="0">
                <a:solidFill>
                  <a:srgbClr val="C59B27"/>
                </a:solidFill>
                <a:latin typeface="Cairo" pitchFamily="34" charset="0"/>
                <a:ea typeface="Cairo" pitchFamily="34" charset="-122"/>
                <a:cs typeface="Cairo" pitchFamily="34" charset="-120"/>
              </a:rPr>
              <a:t>«كلمة ختامية»</a:t>
            </a:r>
            <a:endParaRPr lang="en-US" sz="1600" dirty="0"/>
          </a:p>
        </p:txBody>
      </p:sp>
      <p:sp>
        <p:nvSpPr>
          <p:cNvPr id="9" name="Text 7"/>
          <p:cNvSpPr/>
          <p:nvPr/>
        </p:nvSpPr>
        <p:spPr>
          <a:xfrm>
            <a:off x="1463040" y="2240280"/>
            <a:ext cx="9262872" cy="2377440"/>
          </a:xfrm>
          <a:prstGeom prst="rect">
            <a:avLst/>
          </a:prstGeom>
          <a:noFill/>
          <a:ln/>
        </p:spPr>
        <p:txBody>
          <a:bodyPr wrap="square" rtlCol="0" anchor="ctr"/>
          <a:lstStyle/>
          <a:p>
            <a:pPr algn="ctr" indent="0" marL="0">
              <a:lnSpc>
                <a:spcPts val="2800"/>
              </a:lnSpc>
              <a:buNone/>
            </a:pPr>
            <a:r>
              <a:rPr lang="en-US" sz="1600" b="1" dirty="0">
                <a:solidFill>
                  <a:srgbClr val="1E4D3B"/>
                </a:solidFill>
                <a:latin typeface="Amiri" pitchFamily="34" charset="0"/>
                <a:ea typeface="Amiri" pitchFamily="34" charset="-122"/>
                <a:cs typeface="Amiri" pitchFamily="34" charset="-120"/>
              </a:rPr>
              <a:t>"نسأل الله تعالى أن تكون هذه المنصة القرآنية خطوة مباركة ولبنة عملية صادقة في مسار الإصلاح. إننا على يقين تام بأن هذا المشروع ليس مجرد نهاية مطاف أكاديمي، بل هو نواة حقيقية وانطلاقة لمشاريع كبرى؛ متى ما قُدّر لها أن تُقام على أسس صحيحة ومتينة، لنبتغي بها وجه الله تعالى وخدمة كتابه العظيم."</a:t>
            </a:r>
            <a:endParaRPr lang="en-US" sz="1600" dirty="0"/>
          </a:p>
        </p:txBody>
      </p:sp>
      <p:sp>
        <p:nvSpPr>
          <p:cNvPr id="10" name="Shape 8"/>
          <p:cNvSpPr/>
          <p:nvPr/>
        </p:nvSpPr>
        <p:spPr>
          <a:xfrm>
            <a:off x="1371600" y="5166360"/>
            <a:ext cx="9445752" cy="731520"/>
          </a:xfrm>
          <a:prstGeom prst="roundRect">
            <a:avLst>
              <a:gd name="adj" fmla="val 12500"/>
            </a:avLst>
          </a:prstGeom>
          <a:solidFill>
            <a:srgbClr val="1E4D3B"/>
          </a:solidFill>
          <a:ln w="12700">
            <a:solidFill>
              <a:srgbClr val="C59B27"/>
            </a:solidFill>
            <a:prstDash val="solid"/>
          </a:ln>
        </p:spPr>
      </p:sp>
      <p:sp>
        <p:nvSpPr>
          <p:cNvPr id="11" name="Text 9"/>
          <p:cNvSpPr/>
          <p:nvPr/>
        </p:nvSpPr>
        <p:spPr>
          <a:xfrm>
            <a:off x="1371600" y="5230368"/>
            <a:ext cx="9445752" cy="594360"/>
          </a:xfrm>
          <a:prstGeom prst="rect">
            <a:avLst/>
          </a:prstGeom>
          <a:noFill/>
          <a:ln/>
        </p:spPr>
        <p:txBody>
          <a:bodyPr wrap="square" rtlCol="0" anchor="ctr"/>
          <a:lstStyle/>
          <a:p>
            <a:pPr algn="ctr" indent="0" marL="0">
              <a:lnSpc>
                <a:spcPts val="1600"/>
              </a:lnSpc>
              <a:buNone/>
            </a:pPr>
            <a:r>
              <a:rPr lang="en-US" sz="1250" b="1" dirty="0">
                <a:solidFill>
                  <a:srgbClr val="C59B27"/>
                </a:solidFill>
                <a:latin typeface="Tajawal" pitchFamily="34" charset="0"/>
                <a:ea typeface="Tajawal" pitchFamily="34" charset="-122"/>
                <a:cs typeface="Tajawal" pitchFamily="34" charset="-120"/>
              </a:rPr>
              <a:t>👤 إعداد الطالب: عبد الرحمن محمد دهبية (الرقم الأكاديمي: 30484377)</a:t>
            </a:r>
            <a:endParaRPr lang="en-US" sz="1250" dirty="0"/>
          </a:p>
          <a:p>
            <a:pPr algn="ctr" indent="0" marL="0">
              <a:lnSpc>
                <a:spcPts val="1600"/>
              </a:lnSpc>
              <a:buNone/>
            </a:pPr>
            <a:r>
              <a:rPr lang="en-US" sz="1250" b="1" dirty="0">
                <a:solidFill>
                  <a:srgbClr val="C59B27"/>
                </a:solidFill>
                <a:latin typeface="Tajawal" pitchFamily="34" charset="0"/>
                <a:ea typeface="Tajawal" pitchFamily="34" charset="-122"/>
                <a:cs typeface="Tajawal" pitchFamily="34" charset="-120"/>
              </a:rPr>
              <a:t>🏛️ برنامج البناء المنهجي - دفعة العطاء | إسطنبول، تركيا | 2026م</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برنامج البناء المنهجي - دفعة العطاء</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تجريبي - منصة استهداء لتعليم القرآن الكريم</dc:title>
  <dc:subject>PptxGenJS Presentation</dc:subject>
  <dc:creator>عبد الرحمن محمد دهبية</dc:creator>
  <cp:lastModifiedBy>عبد الرحمن محمد دهبية</cp:lastModifiedBy>
  <cp:revision>1</cp:revision>
  <dcterms:created xsi:type="dcterms:W3CDTF">2026-07-26T17:42:35Z</dcterms:created>
  <dcterms:modified xsi:type="dcterms:W3CDTF">2026-07-26T17:42:35Z</dcterms:modified>
</cp:coreProperties>
</file>